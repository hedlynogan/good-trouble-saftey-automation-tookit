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ounded Rectangle 1"/>
          <p:cNvSpPr/>
          <p:nvPr/>
        </p:nvSpPr>
        <p:spPr>
          <a:xfrm>
            <a:off x="0" y="0"/>
            <a:ext cx="9144000" cy="54864"/>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7680960" cy="914400"/>
          </a:xfrm>
          <a:prstGeom prst="rect">
            <a:avLst/>
          </a:prstGeom>
          <a:noFill/>
        </p:spPr>
        <p:txBody>
          <a:bodyPr wrap="square">
            <a:spAutoFit/>
          </a:bodyPr>
          <a:lstStyle/>
          <a:p>
            <a:pPr algn="ctr">
              <a:defRPr sz="3600" b="1">
                <a:solidFill>
                  <a:srgbClr val="FFFFFF"/>
                </a:solidFill>
                <a:latin typeface="Calibri"/>
              </a:defRPr>
            </a:pPr>
            <a:r>
              <a:t>How to Create an Emergency</a:t>
            </a:r>
            <a:br/>
            <a:r>
              <a:t>iCloud Contact List</a:t>
            </a:r>
          </a:p>
        </p:txBody>
      </p:sp>
      <p:sp>
        <p:nvSpPr>
          <p:cNvPr id="4" name="TextBox 3"/>
          <p:cNvSpPr txBox="1"/>
          <p:nvPr/>
        </p:nvSpPr>
        <p:spPr>
          <a:xfrm>
            <a:off x="914400" y="2743200"/>
            <a:ext cx="7315200" cy="548640"/>
          </a:xfrm>
          <a:prstGeom prst="rect">
            <a:avLst/>
          </a:prstGeom>
          <a:noFill/>
        </p:spPr>
        <p:txBody>
          <a:bodyPr wrap="square">
            <a:spAutoFit/>
          </a:bodyPr>
          <a:lstStyle/>
          <a:p>
            <a:pPr algn="ctr">
              <a:defRPr sz="2200" b="0">
                <a:solidFill>
                  <a:srgbClr val="CCCCCC"/>
                </a:solidFill>
                <a:latin typeface="Calibri"/>
              </a:defRPr>
            </a:pPr>
            <a:r>
              <a:t>Using Apple Contacts on iPhone, iPad, or Mac</a:t>
            </a:r>
          </a:p>
        </p:txBody>
      </p:sp>
      <p:sp>
        <p:nvSpPr>
          <p:cNvPr id="5" name="Rounded Rectangle 4"/>
          <p:cNvSpPr/>
          <p:nvPr/>
        </p:nvSpPr>
        <p:spPr>
          <a:xfrm>
            <a:off x="3200400" y="3566160"/>
            <a:ext cx="27432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7315200" cy="457200"/>
          </a:xfrm>
          <a:prstGeom prst="rect">
            <a:avLst/>
          </a:prstGeom>
          <a:noFill/>
        </p:spPr>
        <p:txBody>
          <a:bodyPr wrap="square">
            <a:spAutoFit/>
          </a:bodyPr>
          <a:lstStyle/>
          <a:p>
            <a:pPr algn="ctr">
              <a:defRPr sz="1800" b="0">
                <a:solidFill>
                  <a:srgbClr val="007AFF"/>
                </a:solidFill>
                <a:latin typeface="Calibri"/>
              </a:defRPr>
            </a:pPr>
            <a:r>
              <a:t>Good Trouble Safety Automation Toolkit</a:t>
            </a:r>
          </a:p>
        </p:txBody>
      </p:sp>
      <p:sp>
        <p:nvSpPr>
          <p:cNvPr id="7" name="TextBox 6"/>
          <p:cNvSpPr txBox="1"/>
          <p:nvPr/>
        </p:nvSpPr>
        <p:spPr>
          <a:xfrm>
            <a:off x="914400" y="4572000"/>
            <a:ext cx="7315200" cy="731520"/>
          </a:xfrm>
          <a:prstGeom prst="rect">
            <a:avLst/>
          </a:prstGeom>
          <a:noFill/>
        </p:spPr>
        <p:txBody>
          <a:bodyPr wrap="square">
            <a:spAutoFit/>
          </a:bodyPr>
          <a:lstStyle/>
          <a:p>
            <a:pPr algn="ctr">
              <a:defRPr sz="1500" b="0">
                <a:solidFill>
                  <a:srgbClr val="999999"/>
                </a:solidFill>
                <a:latin typeface="Calibri"/>
              </a:defRPr>
            </a:pPr>
            <a:r>
              <a:t>Set up a dedicated contact list so your emergency alerts</a:t>
            </a:r>
            <a:br/>
            <a:r>
              <a:t>reach the right people instantly.</a:t>
            </a:r>
          </a:p>
        </p:txBody>
      </p:sp>
      <p:sp>
        <p:nvSpPr>
          <p:cNvPr id="8" name="TextBox 7"/>
          <p:cNvSpPr txBox="1"/>
          <p:nvPr/>
        </p:nvSpPr>
        <p:spPr>
          <a:xfrm>
            <a:off x="457200" y="6217920"/>
            <a:ext cx="8229600" cy="365760"/>
          </a:xfrm>
          <a:prstGeom prst="rect">
            <a:avLst/>
          </a:prstGeom>
          <a:noFill/>
        </p:spPr>
        <p:txBody>
          <a:bodyPr wrap="square">
            <a:spAutoFit/>
          </a:bodyPr>
          <a:lstStyle/>
          <a:p>
            <a:pPr algn="ctr">
              <a:defRPr sz="1200" b="0">
                <a:solidFill>
                  <a:srgbClr val="999999"/>
                </a:solidFill>
                <a:latin typeface="Calibri"/>
              </a:defRPr>
            </a:pPr>
            <a:r>
              <a:t>Supports iOS 15+ | macOS Ventura+ | iCloud Sync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65760"/>
            <a:ext cx="8046720" cy="548640"/>
          </a:xfrm>
          <a:prstGeom prst="rect">
            <a:avLst/>
          </a:prstGeom>
          <a:noFill/>
        </p:spPr>
        <p:txBody>
          <a:bodyPr wrap="square">
            <a:spAutoFit/>
          </a:bodyPr>
          <a:lstStyle/>
          <a:p>
            <a:pPr algn="l">
              <a:defRPr sz="2800" b="1">
                <a:solidFill>
                  <a:srgbClr val="333333"/>
                </a:solidFill>
                <a:latin typeface="Calibri"/>
              </a:defRPr>
            </a:pPr>
            <a:r>
              <a:t>Why Create an Emergency Contact List?</a:t>
            </a:r>
          </a:p>
        </p:txBody>
      </p:sp>
      <p:sp>
        <p:nvSpPr>
          <p:cNvPr id="3" name="Rounded Rectangle 2"/>
          <p:cNvSpPr/>
          <p:nvPr/>
        </p:nvSpPr>
        <p:spPr>
          <a:xfrm>
            <a:off x="548640" y="868680"/>
            <a:ext cx="27432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25880"/>
            <a:ext cx="228600" cy="228600"/>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298448"/>
            <a:ext cx="228600" cy="274320"/>
          </a:xfrm>
          <a:prstGeom prst="rect">
            <a:avLst/>
          </a:prstGeom>
          <a:noFill/>
        </p:spPr>
        <p:txBody>
          <a:bodyPr wrap="square">
            <a:spAutoFit/>
          </a:bodyPr>
          <a:lstStyle/>
          <a:p>
            <a:pPr algn="ctr">
              <a:defRPr sz="1000" b="1">
                <a:solidFill>
                  <a:srgbClr val="FFFFFF"/>
                </a:solidFill>
                <a:latin typeface="Calibri"/>
              </a:defRPr>
            </a:pPr>
            <a:r>
              <a:t>&gt;&gt;</a:t>
            </a:r>
          </a:p>
        </p:txBody>
      </p:sp>
      <p:sp>
        <p:nvSpPr>
          <p:cNvPr id="6" name="TextBox 5"/>
          <p:cNvSpPr txBox="1"/>
          <p:nvPr/>
        </p:nvSpPr>
        <p:spPr>
          <a:xfrm>
            <a:off x="1097280" y="1280160"/>
            <a:ext cx="7315200" cy="457200"/>
          </a:xfrm>
          <a:prstGeom prst="rect">
            <a:avLst/>
          </a:prstGeom>
          <a:noFill/>
        </p:spPr>
        <p:txBody>
          <a:bodyPr wrap="square">
            <a:spAutoFit/>
          </a:bodyPr>
          <a:lstStyle/>
          <a:p>
            <a:pPr algn="l">
              <a:defRPr sz="1600" b="0">
                <a:solidFill>
                  <a:srgbClr val="333333"/>
                </a:solidFill>
                <a:latin typeface="Calibri"/>
              </a:defRPr>
            </a:pPr>
            <a:r>
              <a:t>Quickly send alerts to trusted people during an encounter</a:t>
            </a:r>
          </a:p>
        </p:txBody>
      </p:sp>
      <p:sp>
        <p:nvSpPr>
          <p:cNvPr id="7" name="Rounded Rectangle 6"/>
          <p:cNvSpPr/>
          <p:nvPr/>
        </p:nvSpPr>
        <p:spPr>
          <a:xfrm>
            <a:off x="731520" y="1965960"/>
            <a:ext cx="228600" cy="228600"/>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38528"/>
            <a:ext cx="228600" cy="274320"/>
          </a:xfrm>
          <a:prstGeom prst="rect">
            <a:avLst/>
          </a:prstGeom>
          <a:noFill/>
        </p:spPr>
        <p:txBody>
          <a:bodyPr wrap="square">
            <a:spAutoFit/>
          </a:bodyPr>
          <a:lstStyle/>
          <a:p>
            <a:pPr algn="ctr">
              <a:defRPr sz="1000" b="1">
                <a:solidFill>
                  <a:srgbClr val="FFFFFF"/>
                </a:solidFill>
                <a:latin typeface="Calibri"/>
              </a:defRPr>
            </a:pPr>
            <a:r>
              <a:t>&gt;&gt;</a:t>
            </a:r>
          </a:p>
        </p:txBody>
      </p:sp>
      <p:sp>
        <p:nvSpPr>
          <p:cNvPr id="9" name="TextBox 8"/>
          <p:cNvSpPr txBox="1"/>
          <p:nvPr/>
        </p:nvSpPr>
        <p:spPr>
          <a:xfrm>
            <a:off x="1097280" y="1920240"/>
            <a:ext cx="7315200" cy="457200"/>
          </a:xfrm>
          <a:prstGeom prst="rect">
            <a:avLst/>
          </a:prstGeom>
          <a:noFill/>
        </p:spPr>
        <p:txBody>
          <a:bodyPr wrap="square">
            <a:spAutoFit/>
          </a:bodyPr>
          <a:lstStyle/>
          <a:p>
            <a:pPr algn="l">
              <a:defRPr sz="1600" b="0">
                <a:solidFill>
                  <a:srgbClr val="333333"/>
                </a:solidFill>
                <a:latin typeface="Calibri"/>
              </a:defRPr>
            </a:pPr>
            <a:r>
              <a:t>Keep emergency contacts organized and separate from your full address book</a:t>
            </a:r>
          </a:p>
        </p:txBody>
      </p:sp>
      <p:sp>
        <p:nvSpPr>
          <p:cNvPr id="10" name="Rounded Rectangle 9"/>
          <p:cNvSpPr/>
          <p:nvPr/>
        </p:nvSpPr>
        <p:spPr>
          <a:xfrm>
            <a:off x="731520" y="2606040"/>
            <a:ext cx="228600" cy="228600"/>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78608"/>
            <a:ext cx="228600" cy="274320"/>
          </a:xfrm>
          <a:prstGeom prst="rect">
            <a:avLst/>
          </a:prstGeom>
          <a:noFill/>
        </p:spPr>
        <p:txBody>
          <a:bodyPr wrap="square">
            <a:spAutoFit/>
          </a:bodyPr>
          <a:lstStyle/>
          <a:p>
            <a:pPr algn="ctr">
              <a:defRPr sz="1000" b="1">
                <a:solidFill>
                  <a:srgbClr val="FFFFFF"/>
                </a:solidFill>
                <a:latin typeface="Calibri"/>
              </a:defRPr>
            </a:pPr>
            <a:r>
              <a:t>&gt;&gt;</a:t>
            </a:r>
          </a:p>
        </p:txBody>
      </p:sp>
      <p:sp>
        <p:nvSpPr>
          <p:cNvPr id="12" name="TextBox 11"/>
          <p:cNvSpPr txBox="1"/>
          <p:nvPr/>
        </p:nvSpPr>
        <p:spPr>
          <a:xfrm>
            <a:off x="1097280" y="2560320"/>
            <a:ext cx="7315200" cy="457200"/>
          </a:xfrm>
          <a:prstGeom prst="rect">
            <a:avLst/>
          </a:prstGeom>
          <a:noFill/>
        </p:spPr>
        <p:txBody>
          <a:bodyPr wrap="square">
            <a:spAutoFit/>
          </a:bodyPr>
          <a:lstStyle/>
          <a:p>
            <a:pPr algn="l">
              <a:defRPr sz="1600" b="0">
                <a:solidFill>
                  <a:srgbClr val="333333"/>
                </a:solidFill>
                <a:latin typeface="Calibri"/>
              </a:defRPr>
            </a:pPr>
            <a:r>
              <a:t>Syncs automatically across all your Apple devices via iCloud</a:t>
            </a:r>
          </a:p>
        </p:txBody>
      </p:sp>
      <p:sp>
        <p:nvSpPr>
          <p:cNvPr id="13" name="Rounded Rectangle 12"/>
          <p:cNvSpPr/>
          <p:nvPr/>
        </p:nvSpPr>
        <p:spPr>
          <a:xfrm>
            <a:off x="731520" y="3246119"/>
            <a:ext cx="228600" cy="228600"/>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218687"/>
            <a:ext cx="228600" cy="274320"/>
          </a:xfrm>
          <a:prstGeom prst="rect">
            <a:avLst/>
          </a:prstGeom>
          <a:noFill/>
        </p:spPr>
        <p:txBody>
          <a:bodyPr wrap="square">
            <a:spAutoFit/>
          </a:bodyPr>
          <a:lstStyle/>
          <a:p>
            <a:pPr algn="ctr">
              <a:defRPr sz="1000" b="1">
                <a:solidFill>
                  <a:srgbClr val="FFFFFF"/>
                </a:solidFill>
                <a:latin typeface="Calibri"/>
              </a:defRPr>
            </a:pPr>
            <a:r>
              <a:t>&gt;&gt;</a:t>
            </a:r>
          </a:p>
        </p:txBody>
      </p:sp>
      <p:sp>
        <p:nvSpPr>
          <p:cNvPr id="15" name="TextBox 14"/>
          <p:cNvSpPr txBox="1"/>
          <p:nvPr/>
        </p:nvSpPr>
        <p:spPr>
          <a:xfrm>
            <a:off x="1097280" y="3200399"/>
            <a:ext cx="7315200" cy="457200"/>
          </a:xfrm>
          <a:prstGeom prst="rect">
            <a:avLst/>
          </a:prstGeom>
          <a:noFill/>
        </p:spPr>
        <p:txBody>
          <a:bodyPr wrap="square">
            <a:spAutoFit/>
          </a:bodyPr>
          <a:lstStyle/>
          <a:p>
            <a:pPr algn="l">
              <a:defRPr sz="1600" b="0">
                <a:solidFill>
                  <a:srgbClr val="333333"/>
                </a:solidFill>
                <a:latin typeface="Calibri"/>
              </a:defRPr>
            </a:pPr>
            <a:r>
              <a:t>Works seamlessly with iOS Shortcuts for the Good Trouble toolkit</a:t>
            </a:r>
          </a:p>
        </p:txBody>
      </p:sp>
      <p:sp>
        <p:nvSpPr>
          <p:cNvPr id="16" name="Rounded Rectangle 15"/>
          <p:cNvSpPr/>
          <p:nvPr/>
        </p:nvSpPr>
        <p:spPr>
          <a:xfrm>
            <a:off x="731520" y="3886200"/>
            <a:ext cx="228600" cy="228600"/>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858768"/>
            <a:ext cx="228600" cy="274320"/>
          </a:xfrm>
          <a:prstGeom prst="rect">
            <a:avLst/>
          </a:prstGeom>
          <a:noFill/>
        </p:spPr>
        <p:txBody>
          <a:bodyPr wrap="square">
            <a:spAutoFit/>
          </a:bodyPr>
          <a:lstStyle/>
          <a:p>
            <a:pPr algn="ctr">
              <a:defRPr sz="1000" b="1">
                <a:solidFill>
                  <a:srgbClr val="FFFFFF"/>
                </a:solidFill>
                <a:latin typeface="Calibri"/>
              </a:defRPr>
            </a:pPr>
            <a:r>
              <a:t>&gt;&gt;</a:t>
            </a:r>
          </a:p>
        </p:txBody>
      </p:sp>
      <p:sp>
        <p:nvSpPr>
          <p:cNvPr id="18" name="TextBox 17"/>
          <p:cNvSpPr txBox="1"/>
          <p:nvPr/>
        </p:nvSpPr>
        <p:spPr>
          <a:xfrm>
            <a:off x="1097280" y="3840480"/>
            <a:ext cx="7315200" cy="457200"/>
          </a:xfrm>
          <a:prstGeom prst="rect">
            <a:avLst/>
          </a:prstGeom>
          <a:noFill/>
        </p:spPr>
        <p:txBody>
          <a:bodyPr wrap="square">
            <a:spAutoFit/>
          </a:bodyPr>
          <a:lstStyle/>
          <a:p>
            <a:pPr algn="l">
              <a:defRPr sz="1600" b="0">
                <a:solidFill>
                  <a:srgbClr val="333333"/>
                </a:solidFill>
                <a:latin typeface="Calibri"/>
              </a:defRPr>
            </a:pPr>
            <a:r>
              <a:t>Update the list once and changes propagate everywhere</a:t>
            </a:r>
          </a:p>
        </p:txBody>
      </p:sp>
      <p:sp>
        <p:nvSpPr>
          <p:cNvPr id="19" name="Rounded Rectangle 18"/>
          <p:cNvSpPr/>
          <p:nvPr/>
        </p:nvSpPr>
        <p:spPr>
          <a:xfrm>
            <a:off x="548640" y="5029200"/>
            <a:ext cx="8046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74920"/>
            <a:ext cx="640080" cy="274320"/>
          </a:xfrm>
          <a:prstGeom prst="rect">
            <a:avLst/>
          </a:prstGeom>
          <a:noFill/>
        </p:spPr>
        <p:txBody>
          <a:bodyPr wrap="square">
            <a:spAutoFit/>
          </a:bodyPr>
          <a:lstStyle/>
          <a:p>
            <a:pPr algn="l">
              <a:defRPr sz="1100" b="1">
                <a:solidFill>
                  <a:srgbClr val="856D00"/>
                </a:solidFill>
                <a:latin typeface="Calibri"/>
              </a:defRPr>
            </a:pPr>
            <a:r>
              <a:t>TIP</a:t>
            </a:r>
          </a:p>
        </p:txBody>
      </p:sp>
      <p:sp>
        <p:nvSpPr>
          <p:cNvPr id="21" name="TextBox 20"/>
          <p:cNvSpPr txBox="1"/>
          <p:nvPr/>
        </p:nvSpPr>
        <p:spPr>
          <a:xfrm>
            <a:off x="731520" y="5285232"/>
            <a:ext cx="7589520" cy="365760"/>
          </a:xfrm>
          <a:prstGeom prst="rect">
            <a:avLst/>
          </a:prstGeom>
          <a:noFill/>
        </p:spPr>
        <p:txBody>
          <a:bodyPr wrap="square">
            <a:spAutoFit/>
          </a:bodyPr>
          <a:lstStyle/>
          <a:p>
            <a:pPr algn="l">
              <a:defRPr sz="1200" b="0">
                <a:solidFill>
                  <a:srgbClr val="333333"/>
                </a:solidFill>
                <a:latin typeface="Calibri"/>
              </a:defRPr>
            </a:pPr>
            <a:r>
              <a:t>The contact list you create here is what the Good Trouble Shortcut uses to know who to message when you trigger an emergency alert.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65760"/>
            <a:ext cx="8046720" cy="548640"/>
          </a:xfrm>
          <a:prstGeom prst="rect">
            <a:avLst/>
          </a:prstGeom>
          <a:noFill/>
        </p:spPr>
        <p:txBody>
          <a:bodyPr wrap="square">
            <a:spAutoFit/>
          </a:bodyPr>
          <a:lstStyle/>
          <a:p>
            <a:pPr algn="l">
              <a:defRPr sz="2800" b="1">
                <a:solidFill>
                  <a:srgbClr val="333333"/>
                </a:solidFill>
                <a:latin typeface="Calibri"/>
              </a:defRPr>
            </a:pPr>
            <a:r>
              <a:t>Before You Begin</a:t>
            </a:r>
          </a:p>
        </p:txBody>
      </p:sp>
      <p:sp>
        <p:nvSpPr>
          <p:cNvPr id="3" name="Rounded Rectangle 2"/>
          <p:cNvSpPr/>
          <p:nvPr/>
        </p:nvSpPr>
        <p:spPr>
          <a:xfrm>
            <a:off x="548640" y="868680"/>
            <a:ext cx="18288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234440"/>
            <a:ext cx="411480" cy="41148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5" name="TextBox 4"/>
          <p:cNvSpPr txBox="1"/>
          <p:nvPr/>
        </p:nvSpPr>
        <p:spPr>
          <a:xfrm>
            <a:off x="1325880" y="1188720"/>
            <a:ext cx="6858000" cy="320040"/>
          </a:xfrm>
          <a:prstGeom prst="rect">
            <a:avLst/>
          </a:prstGeom>
          <a:noFill/>
        </p:spPr>
        <p:txBody>
          <a:bodyPr wrap="square">
            <a:spAutoFit/>
          </a:bodyPr>
          <a:lstStyle/>
          <a:p>
            <a:pPr algn="l">
              <a:defRPr sz="1700" b="1">
                <a:solidFill>
                  <a:srgbClr val="333333"/>
                </a:solidFill>
                <a:latin typeface="Calibri"/>
              </a:defRPr>
            </a:pPr>
            <a:r>
              <a:t>iCloud Account</a:t>
            </a:r>
          </a:p>
        </p:txBody>
      </p:sp>
      <p:sp>
        <p:nvSpPr>
          <p:cNvPr id="6" name="TextBox 5"/>
          <p:cNvSpPr txBox="1"/>
          <p:nvPr/>
        </p:nvSpPr>
        <p:spPr>
          <a:xfrm>
            <a:off x="1325880" y="1508760"/>
            <a:ext cx="6858000" cy="365760"/>
          </a:xfrm>
          <a:prstGeom prst="rect">
            <a:avLst/>
          </a:prstGeom>
          <a:noFill/>
        </p:spPr>
        <p:txBody>
          <a:bodyPr wrap="square">
            <a:spAutoFit/>
          </a:bodyPr>
          <a:lstStyle/>
          <a:p>
            <a:pPr algn="l">
              <a:defRPr sz="1300" b="0">
                <a:solidFill>
                  <a:srgbClr val="333333"/>
                </a:solidFill>
                <a:latin typeface="Calibri"/>
              </a:defRPr>
            </a:pPr>
            <a:r>
              <a:t>Sign in to iCloud on your device (Settings &gt; [Your Name] &gt; iCloud).</a:t>
            </a:r>
          </a:p>
        </p:txBody>
      </p:sp>
      <p:sp>
        <p:nvSpPr>
          <p:cNvPr id="7" name="Oval 6"/>
          <p:cNvSpPr/>
          <p:nvPr/>
        </p:nvSpPr>
        <p:spPr>
          <a:xfrm>
            <a:off x="731520" y="2103120"/>
            <a:ext cx="411480" cy="41148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8" name="TextBox 7"/>
          <p:cNvSpPr txBox="1"/>
          <p:nvPr/>
        </p:nvSpPr>
        <p:spPr>
          <a:xfrm>
            <a:off x="1325880" y="2057400"/>
            <a:ext cx="6858000" cy="320040"/>
          </a:xfrm>
          <a:prstGeom prst="rect">
            <a:avLst/>
          </a:prstGeom>
          <a:noFill/>
        </p:spPr>
        <p:txBody>
          <a:bodyPr wrap="square">
            <a:spAutoFit/>
          </a:bodyPr>
          <a:lstStyle/>
          <a:p>
            <a:pPr algn="l">
              <a:defRPr sz="1700" b="1">
                <a:solidFill>
                  <a:srgbClr val="333333"/>
                </a:solidFill>
                <a:latin typeface="Calibri"/>
              </a:defRPr>
            </a:pPr>
            <a:r>
              <a:t>Contacts Syncing ON</a:t>
            </a:r>
          </a:p>
        </p:txBody>
      </p:sp>
      <p:sp>
        <p:nvSpPr>
          <p:cNvPr id="9" name="TextBox 8"/>
          <p:cNvSpPr txBox="1"/>
          <p:nvPr/>
        </p:nvSpPr>
        <p:spPr>
          <a:xfrm>
            <a:off x="1325880" y="2377440"/>
            <a:ext cx="6858000" cy="365760"/>
          </a:xfrm>
          <a:prstGeom prst="rect">
            <a:avLst/>
          </a:prstGeom>
          <a:noFill/>
        </p:spPr>
        <p:txBody>
          <a:bodyPr wrap="square">
            <a:spAutoFit/>
          </a:bodyPr>
          <a:lstStyle/>
          <a:p>
            <a:pPr algn="l">
              <a:defRPr sz="1300" b="0">
                <a:solidFill>
                  <a:srgbClr val="333333"/>
                </a:solidFill>
                <a:latin typeface="Calibri"/>
              </a:defRPr>
            </a:pPr>
            <a:r>
              <a:t>Under iCloud settings, make sure Contacts toggle is enabled.</a:t>
            </a:r>
          </a:p>
        </p:txBody>
      </p:sp>
      <p:sp>
        <p:nvSpPr>
          <p:cNvPr id="10" name="Oval 9"/>
          <p:cNvSpPr/>
          <p:nvPr/>
        </p:nvSpPr>
        <p:spPr>
          <a:xfrm>
            <a:off x="731520" y="2971800"/>
            <a:ext cx="411480" cy="41148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1" name="TextBox 10"/>
          <p:cNvSpPr txBox="1"/>
          <p:nvPr/>
        </p:nvSpPr>
        <p:spPr>
          <a:xfrm>
            <a:off x="1325880" y="2926080"/>
            <a:ext cx="6858000" cy="320040"/>
          </a:xfrm>
          <a:prstGeom prst="rect">
            <a:avLst/>
          </a:prstGeom>
          <a:noFill/>
        </p:spPr>
        <p:txBody>
          <a:bodyPr wrap="square">
            <a:spAutoFit/>
          </a:bodyPr>
          <a:lstStyle/>
          <a:p>
            <a:pPr algn="l">
              <a:defRPr sz="1700" b="1">
                <a:solidFill>
                  <a:srgbClr val="333333"/>
                </a:solidFill>
                <a:latin typeface="Calibri"/>
              </a:defRPr>
            </a:pPr>
            <a:r>
              <a:t>Apple Contacts App</a:t>
            </a:r>
          </a:p>
        </p:txBody>
      </p:sp>
      <p:sp>
        <p:nvSpPr>
          <p:cNvPr id="12" name="TextBox 11"/>
          <p:cNvSpPr txBox="1"/>
          <p:nvPr/>
        </p:nvSpPr>
        <p:spPr>
          <a:xfrm>
            <a:off x="1325880" y="3246120"/>
            <a:ext cx="6858000" cy="365760"/>
          </a:xfrm>
          <a:prstGeom prst="rect">
            <a:avLst/>
          </a:prstGeom>
          <a:noFill/>
        </p:spPr>
        <p:txBody>
          <a:bodyPr wrap="square">
            <a:spAutoFit/>
          </a:bodyPr>
          <a:lstStyle/>
          <a:p>
            <a:pPr algn="l">
              <a:defRPr sz="1300" b="0">
                <a:solidFill>
                  <a:srgbClr val="333333"/>
                </a:solidFill>
                <a:latin typeface="Calibri"/>
              </a:defRPr>
            </a:pPr>
            <a:r>
              <a:t>Pre-installed on every iPhone, iPad, and Mac.</a:t>
            </a:r>
          </a:p>
        </p:txBody>
      </p:sp>
      <p:sp>
        <p:nvSpPr>
          <p:cNvPr id="13" name="Oval 12"/>
          <p:cNvSpPr/>
          <p:nvPr/>
        </p:nvSpPr>
        <p:spPr>
          <a:xfrm>
            <a:off x="731520" y="3840479"/>
            <a:ext cx="411480" cy="41148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4" name="TextBox 13"/>
          <p:cNvSpPr txBox="1"/>
          <p:nvPr/>
        </p:nvSpPr>
        <p:spPr>
          <a:xfrm>
            <a:off x="1325880" y="3794759"/>
            <a:ext cx="6858000" cy="320040"/>
          </a:xfrm>
          <a:prstGeom prst="rect">
            <a:avLst/>
          </a:prstGeom>
          <a:noFill/>
        </p:spPr>
        <p:txBody>
          <a:bodyPr wrap="square">
            <a:spAutoFit/>
          </a:bodyPr>
          <a:lstStyle/>
          <a:p>
            <a:pPr algn="l">
              <a:defRPr sz="1700" b="1">
                <a:solidFill>
                  <a:srgbClr val="333333"/>
                </a:solidFill>
                <a:latin typeface="Calibri"/>
              </a:defRPr>
            </a:pPr>
            <a:r>
              <a:t>Emergency Contact Info</a:t>
            </a:r>
          </a:p>
        </p:txBody>
      </p:sp>
      <p:sp>
        <p:nvSpPr>
          <p:cNvPr id="15" name="TextBox 14"/>
          <p:cNvSpPr txBox="1"/>
          <p:nvPr/>
        </p:nvSpPr>
        <p:spPr>
          <a:xfrm>
            <a:off x="1325880" y="4114799"/>
            <a:ext cx="6858000" cy="365760"/>
          </a:xfrm>
          <a:prstGeom prst="rect">
            <a:avLst/>
          </a:prstGeom>
          <a:noFill/>
        </p:spPr>
        <p:txBody>
          <a:bodyPr wrap="square">
            <a:spAutoFit/>
          </a:bodyPr>
          <a:lstStyle/>
          <a:p>
            <a:pPr algn="l">
              <a:defRPr sz="1300" b="0">
                <a:solidFill>
                  <a:srgbClr val="333333"/>
                </a:solidFill>
                <a:latin typeface="Calibri"/>
              </a:defRPr>
            </a:pPr>
            <a:r>
              <a:t>Gather phone numbers / emails of your trusted contacts.</a:t>
            </a:r>
          </a:p>
        </p:txBody>
      </p:sp>
      <p:sp>
        <p:nvSpPr>
          <p:cNvPr id="16" name="Rounded Rectangle 15"/>
          <p:cNvSpPr/>
          <p:nvPr/>
        </p:nvSpPr>
        <p:spPr>
          <a:xfrm>
            <a:off x="548640" y="4937760"/>
            <a:ext cx="8046720" cy="64008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983480"/>
            <a:ext cx="640080" cy="274320"/>
          </a:xfrm>
          <a:prstGeom prst="rect">
            <a:avLst/>
          </a:prstGeom>
          <a:noFill/>
        </p:spPr>
        <p:txBody>
          <a:bodyPr wrap="square">
            <a:spAutoFit/>
          </a:bodyPr>
          <a:lstStyle/>
          <a:p>
            <a:pPr algn="l">
              <a:defRPr sz="1100" b="1">
                <a:solidFill>
                  <a:srgbClr val="E03E3E"/>
                </a:solidFill>
                <a:latin typeface="Calibri"/>
              </a:defRPr>
            </a:pPr>
            <a:r>
              <a:t>NOTE</a:t>
            </a:r>
          </a:p>
        </p:txBody>
      </p:sp>
      <p:sp>
        <p:nvSpPr>
          <p:cNvPr id="18" name="TextBox 17"/>
          <p:cNvSpPr txBox="1"/>
          <p:nvPr/>
        </p:nvSpPr>
        <p:spPr>
          <a:xfrm>
            <a:off x="731520" y="5193792"/>
            <a:ext cx="7589520" cy="365760"/>
          </a:xfrm>
          <a:prstGeom prst="rect">
            <a:avLst/>
          </a:prstGeom>
          <a:noFill/>
        </p:spPr>
        <p:txBody>
          <a:bodyPr wrap="square">
            <a:spAutoFit/>
          </a:bodyPr>
          <a:lstStyle/>
          <a:p>
            <a:pPr algn="l">
              <a:defRPr sz="1200" b="0">
                <a:solidFill>
                  <a:srgbClr val="333333"/>
                </a:solidFill>
                <a:latin typeface="Calibri"/>
              </a:defRPr>
            </a:pPr>
            <a:r>
              <a:t>If iCloud Contacts syncing is off, your list will only exist on that one device and won't be available to Shortcuts on your other devices.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Create the List on iPhone or iPad</a:t>
            </a:r>
          </a:p>
        </p:txBody>
      </p:sp>
      <p:sp>
        <p:nvSpPr>
          <p:cNvPr id="3" name="Rounded Rectangle 2"/>
          <p:cNvSpPr/>
          <p:nvPr/>
        </p:nvSpPr>
        <p:spPr>
          <a:xfrm>
            <a:off x="548640" y="777240"/>
            <a:ext cx="32004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143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1</a:t>
            </a:r>
          </a:p>
        </p:txBody>
      </p:sp>
      <p:sp>
        <p:nvSpPr>
          <p:cNvPr id="6" name="TextBox 5"/>
          <p:cNvSpPr txBox="1"/>
          <p:nvPr/>
        </p:nvSpPr>
        <p:spPr>
          <a:xfrm>
            <a:off x="1325880" y="1078992"/>
            <a:ext cx="6858000" cy="320040"/>
          </a:xfrm>
          <a:prstGeom prst="rect">
            <a:avLst/>
          </a:prstGeom>
          <a:noFill/>
        </p:spPr>
        <p:txBody>
          <a:bodyPr wrap="square">
            <a:spAutoFit/>
          </a:bodyPr>
          <a:lstStyle/>
          <a:p>
            <a:pPr algn="l">
              <a:defRPr sz="1700" b="1">
                <a:solidFill>
                  <a:srgbClr val="333333"/>
                </a:solidFill>
                <a:latin typeface="Calibri"/>
              </a:defRPr>
            </a:pPr>
            <a:r>
              <a:t>Open the Contacts App</a:t>
            </a:r>
          </a:p>
        </p:txBody>
      </p:sp>
      <p:sp>
        <p:nvSpPr>
          <p:cNvPr id="7" name="TextBox 6"/>
          <p:cNvSpPr txBox="1"/>
          <p:nvPr/>
        </p:nvSpPr>
        <p:spPr>
          <a:xfrm>
            <a:off x="1325880" y="1389888"/>
            <a:ext cx="7040880" cy="594360"/>
          </a:xfrm>
          <a:prstGeom prst="rect">
            <a:avLst/>
          </a:prstGeom>
          <a:noFill/>
        </p:spPr>
        <p:txBody>
          <a:bodyPr wrap="square">
            <a:spAutoFit/>
          </a:bodyPr>
          <a:lstStyle/>
          <a:p>
            <a:pPr algn="l">
              <a:defRPr sz="1300" b="0">
                <a:solidFill>
                  <a:srgbClr val="333333"/>
                </a:solidFill>
                <a:latin typeface="Calibri"/>
              </a:defRPr>
            </a:pPr>
            <a:r>
              <a:t>Tap the Contacts app on your Home Screen (or open Phone and tap the Contacts tab).</a:t>
            </a:r>
          </a:p>
        </p:txBody>
      </p:sp>
      <p:sp>
        <p:nvSpPr>
          <p:cNvPr id="8" name="Rounded Rectangle 7"/>
          <p:cNvSpPr/>
          <p:nvPr/>
        </p:nvSpPr>
        <p:spPr>
          <a:xfrm>
            <a:off x="548640" y="2148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86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2</a:t>
            </a:r>
          </a:p>
        </p:txBody>
      </p:sp>
      <p:sp>
        <p:nvSpPr>
          <p:cNvPr id="10" name="TextBox 9"/>
          <p:cNvSpPr txBox="1"/>
          <p:nvPr/>
        </p:nvSpPr>
        <p:spPr>
          <a:xfrm>
            <a:off x="1325880" y="2221992"/>
            <a:ext cx="6858000" cy="320040"/>
          </a:xfrm>
          <a:prstGeom prst="rect">
            <a:avLst/>
          </a:prstGeom>
          <a:noFill/>
        </p:spPr>
        <p:txBody>
          <a:bodyPr wrap="square">
            <a:spAutoFit/>
          </a:bodyPr>
          <a:lstStyle/>
          <a:p>
            <a:pPr algn="l">
              <a:defRPr sz="1700" b="1">
                <a:solidFill>
                  <a:srgbClr val="333333"/>
                </a:solidFill>
                <a:latin typeface="Calibri"/>
              </a:defRPr>
            </a:pPr>
            <a:r>
              <a:t>Go to the Lists View</a:t>
            </a:r>
          </a:p>
        </p:txBody>
      </p:sp>
      <p:sp>
        <p:nvSpPr>
          <p:cNvPr id="11" name="TextBox 10"/>
          <p:cNvSpPr txBox="1"/>
          <p:nvPr/>
        </p:nvSpPr>
        <p:spPr>
          <a:xfrm>
            <a:off x="1325880" y="2532888"/>
            <a:ext cx="7040880" cy="594360"/>
          </a:xfrm>
          <a:prstGeom prst="rect">
            <a:avLst/>
          </a:prstGeom>
          <a:noFill/>
        </p:spPr>
        <p:txBody>
          <a:bodyPr wrap="square">
            <a:spAutoFit/>
          </a:bodyPr>
          <a:lstStyle/>
          <a:p>
            <a:pPr algn="l">
              <a:defRPr sz="1300" b="0">
                <a:solidFill>
                  <a:srgbClr val="333333"/>
                </a:solidFill>
                <a:latin typeface="Calibri"/>
              </a:defRPr>
            </a:pPr>
            <a:r>
              <a:t>Tap "Lists" in the upper-left corner to see all your contact lists. If you're already on the Lists screen, skip this step.</a:t>
            </a:r>
          </a:p>
        </p:txBody>
      </p:sp>
      <p:sp>
        <p:nvSpPr>
          <p:cNvPr id="12" name="Rounded Rectangle 11"/>
          <p:cNvSpPr/>
          <p:nvPr/>
        </p:nvSpPr>
        <p:spPr>
          <a:xfrm>
            <a:off x="548640" y="3291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3429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3</a:t>
            </a:r>
          </a:p>
        </p:txBody>
      </p:sp>
      <p:sp>
        <p:nvSpPr>
          <p:cNvPr id="14" name="TextBox 13"/>
          <p:cNvSpPr txBox="1"/>
          <p:nvPr/>
        </p:nvSpPr>
        <p:spPr>
          <a:xfrm>
            <a:off x="1325880" y="3364992"/>
            <a:ext cx="6858000" cy="320040"/>
          </a:xfrm>
          <a:prstGeom prst="rect">
            <a:avLst/>
          </a:prstGeom>
          <a:noFill/>
        </p:spPr>
        <p:txBody>
          <a:bodyPr wrap="square">
            <a:spAutoFit/>
          </a:bodyPr>
          <a:lstStyle/>
          <a:p>
            <a:pPr algn="l">
              <a:defRPr sz="1700" b="1">
                <a:solidFill>
                  <a:srgbClr val="333333"/>
                </a:solidFill>
                <a:latin typeface="Calibri"/>
              </a:defRPr>
            </a:pPr>
            <a:r>
              <a:t>Create a New List</a:t>
            </a:r>
          </a:p>
        </p:txBody>
      </p:sp>
      <p:sp>
        <p:nvSpPr>
          <p:cNvPr id="15" name="TextBox 14"/>
          <p:cNvSpPr txBox="1"/>
          <p:nvPr/>
        </p:nvSpPr>
        <p:spPr>
          <a:xfrm>
            <a:off x="1325880" y="3675888"/>
            <a:ext cx="7040880" cy="594360"/>
          </a:xfrm>
          <a:prstGeom prst="rect">
            <a:avLst/>
          </a:prstGeom>
          <a:noFill/>
        </p:spPr>
        <p:txBody>
          <a:bodyPr wrap="square">
            <a:spAutoFit/>
          </a:bodyPr>
          <a:lstStyle/>
          <a:p>
            <a:pPr algn="l">
              <a:defRPr sz="1300" b="0">
                <a:solidFill>
                  <a:srgbClr val="333333"/>
                </a:solidFill>
                <a:latin typeface="Calibri"/>
              </a:defRPr>
            </a:pPr>
            <a:r>
              <a:t>Tap "Add List" in the upper-left. Name it  Emergency Contacts  (or any name you prefer). Make sure iCloud is selected as the account, then tap "Done".</a:t>
            </a:r>
          </a:p>
        </p:txBody>
      </p:sp>
      <p:sp>
        <p:nvSpPr>
          <p:cNvPr id="16" name="Rounded Rectangle 15"/>
          <p:cNvSpPr/>
          <p:nvPr/>
        </p:nvSpPr>
        <p:spPr>
          <a:xfrm>
            <a:off x="548640" y="4434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4572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4</a:t>
            </a:r>
          </a:p>
        </p:txBody>
      </p:sp>
      <p:sp>
        <p:nvSpPr>
          <p:cNvPr id="18" name="TextBox 17"/>
          <p:cNvSpPr txBox="1"/>
          <p:nvPr/>
        </p:nvSpPr>
        <p:spPr>
          <a:xfrm>
            <a:off x="1325880" y="4507992"/>
            <a:ext cx="6858000" cy="320040"/>
          </a:xfrm>
          <a:prstGeom prst="rect">
            <a:avLst/>
          </a:prstGeom>
          <a:noFill/>
        </p:spPr>
        <p:txBody>
          <a:bodyPr wrap="square">
            <a:spAutoFit/>
          </a:bodyPr>
          <a:lstStyle/>
          <a:p>
            <a:pPr algn="l">
              <a:defRPr sz="1700" b="1">
                <a:solidFill>
                  <a:srgbClr val="333333"/>
                </a:solidFill>
                <a:latin typeface="Calibri"/>
              </a:defRPr>
            </a:pPr>
            <a:r>
              <a:t>Add Contacts to the List</a:t>
            </a:r>
          </a:p>
        </p:txBody>
      </p:sp>
      <p:sp>
        <p:nvSpPr>
          <p:cNvPr id="19" name="TextBox 18"/>
          <p:cNvSpPr txBox="1"/>
          <p:nvPr/>
        </p:nvSpPr>
        <p:spPr>
          <a:xfrm>
            <a:off x="1325880" y="4818888"/>
            <a:ext cx="7040880" cy="594360"/>
          </a:xfrm>
          <a:prstGeom prst="rect">
            <a:avLst/>
          </a:prstGeom>
          <a:noFill/>
        </p:spPr>
        <p:txBody>
          <a:bodyPr wrap="square">
            <a:spAutoFit/>
          </a:bodyPr>
          <a:lstStyle/>
          <a:p>
            <a:pPr algn="l">
              <a:defRPr sz="1300" b="0">
                <a:solidFill>
                  <a:srgbClr val="333333"/>
                </a:solidFill>
                <a:latin typeface="Calibri"/>
              </a:defRPr>
            </a:pPr>
            <a:r>
              <a:t>Tap your new list to open it. Tap the "+" button or "Add Contact" to browse your existing contacts. Select each trusted person, then tap "Done".</a:t>
            </a:r>
          </a:p>
        </p:txBody>
      </p:sp>
      <p:sp>
        <p:nvSpPr>
          <p:cNvPr id="20" name="Rounded Rectangle 19"/>
          <p:cNvSpPr/>
          <p:nvPr/>
        </p:nvSpPr>
        <p:spPr>
          <a:xfrm>
            <a:off x="548640" y="5669280"/>
            <a:ext cx="8046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15000"/>
            <a:ext cx="640080" cy="274320"/>
          </a:xfrm>
          <a:prstGeom prst="rect">
            <a:avLst/>
          </a:prstGeom>
          <a:noFill/>
        </p:spPr>
        <p:txBody>
          <a:bodyPr wrap="square">
            <a:spAutoFit/>
          </a:bodyPr>
          <a:lstStyle/>
          <a:p>
            <a:pPr algn="l">
              <a:defRPr sz="1100" b="1">
                <a:solidFill>
                  <a:srgbClr val="856D00"/>
                </a:solidFill>
                <a:latin typeface="Calibri"/>
              </a:defRPr>
            </a:pPr>
            <a:r>
              <a:t>TIP</a:t>
            </a:r>
          </a:p>
        </p:txBody>
      </p:sp>
      <p:sp>
        <p:nvSpPr>
          <p:cNvPr id="22" name="TextBox 21"/>
          <p:cNvSpPr txBox="1"/>
          <p:nvPr/>
        </p:nvSpPr>
        <p:spPr>
          <a:xfrm>
            <a:off x="731520" y="5925312"/>
            <a:ext cx="7589520" cy="365760"/>
          </a:xfrm>
          <a:prstGeom prst="rect">
            <a:avLst/>
          </a:prstGeom>
          <a:noFill/>
        </p:spPr>
        <p:txBody>
          <a:bodyPr wrap="square">
            <a:spAutoFit/>
          </a:bodyPr>
          <a:lstStyle/>
          <a:p>
            <a:pPr algn="l">
              <a:defRPr sz="1200" b="0">
                <a:solidFill>
                  <a:srgbClr val="333333"/>
                </a:solidFill>
                <a:latin typeface="Calibri"/>
              </a:defRPr>
            </a:pPr>
            <a:r>
              <a:t>You can also drag and drop contacts into the list on a Mac using the Contacts app sidebar.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Create the List on Mac</a:t>
            </a:r>
          </a:p>
        </p:txBody>
      </p:sp>
      <p:sp>
        <p:nvSpPr>
          <p:cNvPr id="3" name="Rounded Rectangle 2"/>
          <p:cNvSpPr/>
          <p:nvPr/>
        </p:nvSpPr>
        <p:spPr>
          <a:xfrm>
            <a:off x="548640" y="777240"/>
            <a:ext cx="22860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143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1</a:t>
            </a:r>
          </a:p>
        </p:txBody>
      </p:sp>
      <p:sp>
        <p:nvSpPr>
          <p:cNvPr id="6" name="TextBox 5"/>
          <p:cNvSpPr txBox="1"/>
          <p:nvPr/>
        </p:nvSpPr>
        <p:spPr>
          <a:xfrm>
            <a:off x="1325880" y="1078992"/>
            <a:ext cx="6858000" cy="320040"/>
          </a:xfrm>
          <a:prstGeom prst="rect">
            <a:avLst/>
          </a:prstGeom>
          <a:noFill/>
        </p:spPr>
        <p:txBody>
          <a:bodyPr wrap="square">
            <a:spAutoFit/>
          </a:bodyPr>
          <a:lstStyle/>
          <a:p>
            <a:pPr algn="l">
              <a:defRPr sz="1700" b="1">
                <a:solidFill>
                  <a:srgbClr val="333333"/>
                </a:solidFill>
                <a:latin typeface="Calibri"/>
              </a:defRPr>
            </a:pPr>
            <a:r>
              <a:t>Open Contacts</a:t>
            </a:r>
          </a:p>
        </p:txBody>
      </p:sp>
      <p:sp>
        <p:nvSpPr>
          <p:cNvPr id="7" name="TextBox 6"/>
          <p:cNvSpPr txBox="1"/>
          <p:nvPr/>
        </p:nvSpPr>
        <p:spPr>
          <a:xfrm>
            <a:off x="1325880" y="1389888"/>
            <a:ext cx="7040880" cy="594360"/>
          </a:xfrm>
          <a:prstGeom prst="rect">
            <a:avLst/>
          </a:prstGeom>
          <a:noFill/>
        </p:spPr>
        <p:txBody>
          <a:bodyPr wrap="square">
            <a:spAutoFit/>
          </a:bodyPr>
          <a:lstStyle/>
          <a:p>
            <a:pPr algn="l">
              <a:defRPr sz="1300" b="0">
                <a:solidFill>
                  <a:srgbClr val="333333"/>
                </a:solidFill>
                <a:latin typeface="Calibri"/>
              </a:defRPr>
            </a:pPr>
            <a:r>
              <a:t>Launch the Contacts app from Applications, the Dock, or Spotlight (Cmd + Space, type "Contacts").</a:t>
            </a:r>
          </a:p>
        </p:txBody>
      </p:sp>
      <p:sp>
        <p:nvSpPr>
          <p:cNvPr id="8" name="Rounded Rectangle 7"/>
          <p:cNvSpPr/>
          <p:nvPr/>
        </p:nvSpPr>
        <p:spPr>
          <a:xfrm>
            <a:off x="548640" y="2148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86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2</a:t>
            </a:r>
          </a:p>
        </p:txBody>
      </p:sp>
      <p:sp>
        <p:nvSpPr>
          <p:cNvPr id="10" name="TextBox 9"/>
          <p:cNvSpPr txBox="1"/>
          <p:nvPr/>
        </p:nvSpPr>
        <p:spPr>
          <a:xfrm>
            <a:off x="1325880" y="2221992"/>
            <a:ext cx="6858000" cy="320040"/>
          </a:xfrm>
          <a:prstGeom prst="rect">
            <a:avLst/>
          </a:prstGeom>
          <a:noFill/>
        </p:spPr>
        <p:txBody>
          <a:bodyPr wrap="square">
            <a:spAutoFit/>
          </a:bodyPr>
          <a:lstStyle/>
          <a:p>
            <a:pPr algn="l">
              <a:defRPr sz="1700" b="1">
                <a:solidFill>
                  <a:srgbClr val="333333"/>
                </a:solidFill>
                <a:latin typeface="Calibri"/>
              </a:defRPr>
            </a:pPr>
            <a:r>
              <a:t>Show the Sidebar</a:t>
            </a:r>
          </a:p>
        </p:txBody>
      </p:sp>
      <p:sp>
        <p:nvSpPr>
          <p:cNvPr id="11" name="TextBox 10"/>
          <p:cNvSpPr txBox="1"/>
          <p:nvPr/>
        </p:nvSpPr>
        <p:spPr>
          <a:xfrm>
            <a:off x="1325880" y="2532888"/>
            <a:ext cx="7040880" cy="594360"/>
          </a:xfrm>
          <a:prstGeom prst="rect">
            <a:avLst/>
          </a:prstGeom>
          <a:noFill/>
        </p:spPr>
        <p:txBody>
          <a:bodyPr wrap="square">
            <a:spAutoFit/>
          </a:bodyPr>
          <a:lstStyle/>
          <a:p>
            <a:pPr algn="l">
              <a:defRPr sz="1300" b="0">
                <a:solidFill>
                  <a:srgbClr val="333333"/>
                </a:solidFill>
                <a:latin typeface="Calibri"/>
              </a:defRPr>
            </a:pPr>
            <a:r>
              <a:t>If you don't see the sidebar with lists, go to View &gt; Show Groups (or click the sidebar icon).</a:t>
            </a:r>
          </a:p>
        </p:txBody>
      </p:sp>
      <p:sp>
        <p:nvSpPr>
          <p:cNvPr id="12" name="Rounded Rectangle 11"/>
          <p:cNvSpPr/>
          <p:nvPr/>
        </p:nvSpPr>
        <p:spPr>
          <a:xfrm>
            <a:off x="548640" y="3291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3429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3</a:t>
            </a:r>
          </a:p>
        </p:txBody>
      </p:sp>
      <p:sp>
        <p:nvSpPr>
          <p:cNvPr id="14" name="TextBox 13"/>
          <p:cNvSpPr txBox="1"/>
          <p:nvPr/>
        </p:nvSpPr>
        <p:spPr>
          <a:xfrm>
            <a:off x="1325880" y="3364992"/>
            <a:ext cx="6858000" cy="320040"/>
          </a:xfrm>
          <a:prstGeom prst="rect">
            <a:avLst/>
          </a:prstGeom>
          <a:noFill/>
        </p:spPr>
        <p:txBody>
          <a:bodyPr wrap="square">
            <a:spAutoFit/>
          </a:bodyPr>
          <a:lstStyle/>
          <a:p>
            <a:pPr algn="l">
              <a:defRPr sz="1700" b="1">
                <a:solidFill>
                  <a:srgbClr val="333333"/>
                </a:solidFill>
                <a:latin typeface="Calibri"/>
              </a:defRPr>
            </a:pPr>
            <a:r>
              <a:t>Create a New List</a:t>
            </a:r>
          </a:p>
        </p:txBody>
      </p:sp>
      <p:sp>
        <p:nvSpPr>
          <p:cNvPr id="15" name="TextBox 14"/>
          <p:cNvSpPr txBox="1"/>
          <p:nvPr/>
        </p:nvSpPr>
        <p:spPr>
          <a:xfrm>
            <a:off x="1325880" y="3675888"/>
            <a:ext cx="7040880" cy="594360"/>
          </a:xfrm>
          <a:prstGeom prst="rect">
            <a:avLst/>
          </a:prstGeom>
          <a:noFill/>
        </p:spPr>
        <p:txBody>
          <a:bodyPr wrap="square">
            <a:spAutoFit/>
          </a:bodyPr>
          <a:lstStyle/>
          <a:p>
            <a:pPr algn="l">
              <a:defRPr sz="1300" b="0">
                <a:solidFill>
                  <a:srgbClr val="333333"/>
                </a:solidFill>
                <a:latin typeface="Calibri"/>
              </a:defRPr>
            </a:pPr>
            <a:r>
              <a:t>Click File &gt; New List (or press Cmd + Shift + N in older macOS). Name it  Emergency Contacts  and make sure it appears under the iCloud section.</a:t>
            </a:r>
          </a:p>
        </p:txBody>
      </p:sp>
      <p:sp>
        <p:nvSpPr>
          <p:cNvPr id="16" name="Rounded Rectangle 15"/>
          <p:cNvSpPr/>
          <p:nvPr/>
        </p:nvSpPr>
        <p:spPr>
          <a:xfrm>
            <a:off x="548640" y="4434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4572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4</a:t>
            </a:r>
          </a:p>
        </p:txBody>
      </p:sp>
      <p:sp>
        <p:nvSpPr>
          <p:cNvPr id="18" name="TextBox 17"/>
          <p:cNvSpPr txBox="1"/>
          <p:nvPr/>
        </p:nvSpPr>
        <p:spPr>
          <a:xfrm>
            <a:off x="1325880" y="4507992"/>
            <a:ext cx="6858000" cy="320040"/>
          </a:xfrm>
          <a:prstGeom prst="rect">
            <a:avLst/>
          </a:prstGeom>
          <a:noFill/>
        </p:spPr>
        <p:txBody>
          <a:bodyPr wrap="square">
            <a:spAutoFit/>
          </a:bodyPr>
          <a:lstStyle/>
          <a:p>
            <a:pPr algn="l">
              <a:defRPr sz="1700" b="1">
                <a:solidFill>
                  <a:srgbClr val="333333"/>
                </a:solidFill>
                <a:latin typeface="Calibri"/>
              </a:defRPr>
            </a:pPr>
            <a:r>
              <a:t>Add Contacts</a:t>
            </a:r>
          </a:p>
        </p:txBody>
      </p:sp>
      <p:sp>
        <p:nvSpPr>
          <p:cNvPr id="19" name="TextBox 18"/>
          <p:cNvSpPr txBox="1"/>
          <p:nvPr/>
        </p:nvSpPr>
        <p:spPr>
          <a:xfrm>
            <a:off x="1325880" y="4818888"/>
            <a:ext cx="7040880" cy="594360"/>
          </a:xfrm>
          <a:prstGeom prst="rect">
            <a:avLst/>
          </a:prstGeom>
          <a:noFill/>
        </p:spPr>
        <p:txBody>
          <a:bodyPr wrap="square">
            <a:spAutoFit/>
          </a:bodyPr>
          <a:lstStyle/>
          <a:p>
            <a:pPr algn="l">
              <a:defRPr sz="1300" b="0">
                <a:solidFill>
                  <a:srgbClr val="333333"/>
                </a:solidFill>
                <a:latin typeface="Calibri"/>
              </a:defRPr>
            </a:pPr>
            <a:r>
              <a:t>Select contacts from "All Contacts", then drag them onto the new list in the sidebar. You can hold Cmd to select multiple contacts at once.</a:t>
            </a:r>
          </a:p>
        </p:txBody>
      </p:sp>
      <p:sp>
        <p:nvSpPr>
          <p:cNvPr id="20" name="Rounded Rectangle 19"/>
          <p:cNvSpPr/>
          <p:nvPr/>
        </p:nvSpPr>
        <p:spPr>
          <a:xfrm>
            <a:off x="548640" y="5669280"/>
            <a:ext cx="8046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715000"/>
            <a:ext cx="640080" cy="274320"/>
          </a:xfrm>
          <a:prstGeom prst="rect">
            <a:avLst/>
          </a:prstGeom>
          <a:noFill/>
        </p:spPr>
        <p:txBody>
          <a:bodyPr wrap="square">
            <a:spAutoFit/>
          </a:bodyPr>
          <a:lstStyle/>
          <a:p>
            <a:pPr algn="l">
              <a:defRPr sz="1100" b="1">
                <a:solidFill>
                  <a:srgbClr val="856D00"/>
                </a:solidFill>
                <a:latin typeface="Calibri"/>
              </a:defRPr>
            </a:pPr>
            <a:r>
              <a:t>TIP</a:t>
            </a:r>
          </a:p>
        </p:txBody>
      </p:sp>
      <p:sp>
        <p:nvSpPr>
          <p:cNvPr id="22" name="TextBox 21"/>
          <p:cNvSpPr txBox="1"/>
          <p:nvPr/>
        </p:nvSpPr>
        <p:spPr>
          <a:xfrm>
            <a:off x="731520" y="5925312"/>
            <a:ext cx="7589520" cy="365760"/>
          </a:xfrm>
          <a:prstGeom prst="rect">
            <a:avLst/>
          </a:prstGeom>
          <a:noFill/>
        </p:spPr>
        <p:txBody>
          <a:bodyPr wrap="square">
            <a:spAutoFit/>
          </a:bodyPr>
          <a:lstStyle/>
          <a:p>
            <a:pPr algn="l">
              <a:defRPr sz="1200" b="0">
                <a:solidFill>
                  <a:srgbClr val="333333"/>
                </a:solidFill>
                <a:latin typeface="Calibri"/>
              </a:defRPr>
            </a:pPr>
            <a:r>
              <a:t>On macOS Ventura and later, the Contacts app has a refreshed sidebar. Right-click in the sidebar to see "New List" as well.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Verify iCloud Sync</a:t>
            </a:r>
          </a:p>
        </p:txBody>
      </p:sp>
      <p:sp>
        <p:nvSpPr>
          <p:cNvPr id="3" name="Rounded Rectangle 2"/>
          <p:cNvSpPr/>
          <p:nvPr/>
        </p:nvSpPr>
        <p:spPr>
          <a:xfrm>
            <a:off x="548640" y="777240"/>
            <a:ext cx="22860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05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143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1</a:t>
            </a:r>
          </a:p>
        </p:txBody>
      </p:sp>
      <p:sp>
        <p:nvSpPr>
          <p:cNvPr id="6" name="TextBox 5"/>
          <p:cNvSpPr txBox="1"/>
          <p:nvPr/>
        </p:nvSpPr>
        <p:spPr>
          <a:xfrm>
            <a:off x="1325880" y="1078992"/>
            <a:ext cx="6858000" cy="320040"/>
          </a:xfrm>
          <a:prstGeom prst="rect">
            <a:avLst/>
          </a:prstGeom>
          <a:noFill/>
        </p:spPr>
        <p:txBody>
          <a:bodyPr wrap="square">
            <a:spAutoFit/>
          </a:bodyPr>
          <a:lstStyle/>
          <a:p>
            <a:pPr algn="l">
              <a:defRPr sz="1700" b="1">
                <a:solidFill>
                  <a:srgbClr val="333333"/>
                </a:solidFill>
                <a:latin typeface="Calibri"/>
              </a:defRPr>
            </a:pPr>
            <a:r>
              <a:t>Check on Another Device</a:t>
            </a:r>
          </a:p>
        </p:txBody>
      </p:sp>
      <p:sp>
        <p:nvSpPr>
          <p:cNvPr id="7" name="TextBox 6"/>
          <p:cNvSpPr txBox="1"/>
          <p:nvPr/>
        </p:nvSpPr>
        <p:spPr>
          <a:xfrm>
            <a:off x="1325880" y="1389888"/>
            <a:ext cx="7040880" cy="594360"/>
          </a:xfrm>
          <a:prstGeom prst="rect">
            <a:avLst/>
          </a:prstGeom>
          <a:noFill/>
        </p:spPr>
        <p:txBody>
          <a:bodyPr wrap="square">
            <a:spAutoFit/>
          </a:bodyPr>
          <a:lstStyle/>
          <a:p>
            <a:pPr algn="l">
              <a:defRPr sz="1300" b="0">
                <a:solidFill>
                  <a:srgbClr val="333333"/>
                </a:solidFill>
                <a:latin typeface="Calibri"/>
              </a:defRPr>
            </a:pPr>
            <a:r>
              <a:t>Open Contacts on a second Apple device signed into the same iCloud account. Your "Emergency Contacts" list should appear automatically.</a:t>
            </a:r>
          </a:p>
        </p:txBody>
      </p:sp>
      <p:sp>
        <p:nvSpPr>
          <p:cNvPr id="8" name="Rounded Rectangle 7"/>
          <p:cNvSpPr/>
          <p:nvPr/>
        </p:nvSpPr>
        <p:spPr>
          <a:xfrm>
            <a:off x="548640" y="2148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86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2</a:t>
            </a:r>
          </a:p>
        </p:txBody>
      </p:sp>
      <p:sp>
        <p:nvSpPr>
          <p:cNvPr id="10" name="TextBox 9"/>
          <p:cNvSpPr txBox="1"/>
          <p:nvPr/>
        </p:nvSpPr>
        <p:spPr>
          <a:xfrm>
            <a:off x="1325880" y="2221992"/>
            <a:ext cx="6858000" cy="320040"/>
          </a:xfrm>
          <a:prstGeom prst="rect">
            <a:avLst/>
          </a:prstGeom>
          <a:noFill/>
        </p:spPr>
        <p:txBody>
          <a:bodyPr wrap="square">
            <a:spAutoFit/>
          </a:bodyPr>
          <a:lstStyle/>
          <a:p>
            <a:pPr algn="l">
              <a:defRPr sz="1700" b="1">
                <a:solidFill>
                  <a:srgbClr val="333333"/>
                </a:solidFill>
                <a:latin typeface="Calibri"/>
              </a:defRPr>
            </a:pPr>
            <a:r>
              <a:t>Check on iCloud.com</a:t>
            </a:r>
          </a:p>
        </p:txBody>
      </p:sp>
      <p:sp>
        <p:nvSpPr>
          <p:cNvPr id="11" name="TextBox 10"/>
          <p:cNvSpPr txBox="1"/>
          <p:nvPr/>
        </p:nvSpPr>
        <p:spPr>
          <a:xfrm>
            <a:off x="1325880" y="2532888"/>
            <a:ext cx="7040880" cy="594360"/>
          </a:xfrm>
          <a:prstGeom prst="rect">
            <a:avLst/>
          </a:prstGeom>
          <a:noFill/>
        </p:spPr>
        <p:txBody>
          <a:bodyPr wrap="square">
            <a:spAutoFit/>
          </a:bodyPr>
          <a:lstStyle/>
          <a:p>
            <a:pPr algn="l">
              <a:defRPr sz="1300" b="0">
                <a:solidFill>
                  <a:srgbClr val="333333"/>
                </a:solidFill>
                <a:latin typeface="Calibri"/>
              </a:defRPr>
            </a:pPr>
            <a:r>
              <a:t>Go to iCloud.com in a browser, sign in, and open Contacts. Your list should appear in the sidebar under "Lists".</a:t>
            </a:r>
          </a:p>
        </p:txBody>
      </p:sp>
      <p:sp>
        <p:nvSpPr>
          <p:cNvPr id="12" name="Rounded Rectangle 11"/>
          <p:cNvSpPr/>
          <p:nvPr/>
        </p:nvSpPr>
        <p:spPr>
          <a:xfrm>
            <a:off x="548640" y="32918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5800" y="34290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3</a:t>
            </a:r>
          </a:p>
        </p:txBody>
      </p:sp>
      <p:sp>
        <p:nvSpPr>
          <p:cNvPr id="14" name="TextBox 13"/>
          <p:cNvSpPr txBox="1"/>
          <p:nvPr/>
        </p:nvSpPr>
        <p:spPr>
          <a:xfrm>
            <a:off x="1325880" y="3364992"/>
            <a:ext cx="6858000" cy="320040"/>
          </a:xfrm>
          <a:prstGeom prst="rect">
            <a:avLst/>
          </a:prstGeom>
          <a:noFill/>
        </p:spPr>
        <p:txBody>
          <a:bodyPr wrap="square">
            <a:spAutoFit/>
          </a:bodyPr>
          <a:lstStyle/>
          <a:p>
            <a:pPr algn="l">
              <a:defRPr sz="1700" b="1">
                <a:solidFill>
                  <a:srgbClr val="333333"/>
                </a:solidFill>
                <a:latin typeface="Calibri"/>
              </a:defRPr>
            </a:pPr>
            <a:r>
              <a:t>Force a Sync (if needed)</a:t>
            </a:r>
          </a:p>
        </p:txBody>
      </p:sp>
      <p:sp>
        <p:nvSpPr>
          <p:cNvPr id="15" name="TextBox 14"/>
          <p:cNvSpPr txBox="1"/>
          <p:nvPr/>
        </p:nvSpPr>
        <p:spPr>
          <a:xfrm>
            <a:off x="1325880" y="3675888"/>
            <a:ext cx="7040880" cy="594360"/>
          </a:xfrm>
          <a:prstGeom prst="rect">
            <a:avLst/>
          </a:prstGeom>
          <a:noFill/>
        </p:spPr>
        <p:txBody>
          <a:bodyPr wrap="square">
            <a:spAutoFit/>
          </a:bodyPr>
          <a:lstStyle/>
          <a:p>
            <a:pPr algn="l">
              <a:defRPr sz="1300" b="0">
                <a:solidFill>
                  <a:srgbClr val="333333"/>
                </a:solidFill>
                <a:latin typeface="Calibri"/>
              </a:defRPr>
            </a:pPr>
            <a:r>
              <a:t>On iPhone/iPad: Settings &gt; [Your Name] &gt; iCloud &gt; toggle Contacts off and back on. On Mac: System Settings &gt; Apple ID &gt; iCloud &gt; toggle Contacts.</a:t>
            </a:r>
          </a:p>
        </p:txBody>
      </p:sp>
      <p:sp>
        <p:nvSpPr>
          <p:cNvPr id="16" name="Rounded Rectangle 15"/>
          <p:cNvSpPr/>
          <p:nvPr/>
        </p:nvSpPr>
        <p:spPr>
          <a:xfrm>
            <a:off x="548640" y="4572000"/>
            <a:ext cx="8046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17720"/>
            <a:ext cx="640080" cy="274320"/>
          </a:xfrm>
          <a:prstGeom prst="rect">
            <a:avLst/>
          </a:prstGeom>
          <a:noFill/>
        </p:spPr>
        <p:txBody>
          <a:bodyPr wrap="square">
            <a:spAutoFit/>
          </a:bodyPr>
          <a:lstStyle/>
          <a:p>
            <a:pPr algn="l">
              <a:defRPr sz="1100" b="1">
                <a:solidFill>
                  <a:srgbClr val="856D00"/>
                </a:solidFill>
                <a:latin typeface="Calibri"/>
              </a:defRPr>
            </a:pPr>
            <a:r>
              <a:t>TIP</a:t>
            </a:r>
          </a:p>
        </p:txBody>
      </p:sp>
      <p:sp>
        <p:nvSpPr>
          <p:cNvPr id="18" name="TextBox 17"/>
          <p:cNvSpPr txBox="1"/>
          <p:nvPr/>
        </p:nvSpPr>
        <p:spPr>
          <a:xfrm>
            <a:off x="731520" y="4828032"/>
            <a:ext cx="7589520" cy="365760"/>
          </a:xfrm>
          <a:prstGeom prst="rect">
            <a:avLst/>
          </a:prstGeom>
          <a:noFill/>
        </p:spPr>
        <p:txBody>
          <a:bodyPr wrap="square">
            <a:spAutoFit/>
          </a:bodyPr>
          <a:lstStyle/>
          <a:p>
            <a:pPr algn="l">
              <a:defRPr sz="1200" b="0">
                <a:solidFill>
                  <a:srgbClr val="333333"/>
                </a:solidFill>
                <a:latin typeface="Calibri"/>
              </a:defRPr>
            </a:pPr>
            <a:r>
              <a:t>iCloud syncing may not be instant. Give it a minute or two, and make sure you're connected to Wi-Fi or cellular data.</a:t>
            </a:r>
          </a:p>
        </p:txBody>
      </p:sp>
      <p:sp>
        <p:nvSpPr>
          <p:cNvPr id="19" name="Rounded Rectangle 18"/>
          <p:cNvSpPr/>
          <p:nvPr/>
        </p:nvSpPr>
        <p:spPr>
          <a:xfrm>
            <a:off x="548640" y="5394960"/>
            <a:ext cx="8046720" cy="64008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440680"/>
            <a:ext cx="640080" cy="274320"/>
          </a:xfrm>
          <a:prstGeom prst="rect">
            <a:avLst/>
          </a:prstGeom>
          <a:noFill/>
        </p:spPr>
        <p:txBody>
          <a:bodyPr wrap="square">
            <a:spAutoFit/>
          </a:bodyPr>
          <a:lstStyle/>
          <a:p>
            <a:pPr algn="l">
              <a:defRPr sz="1100" b="1">
                <a:solidFill>
                  <a:srgbClr val="E03E3E"/>
                </a:solidFill>
                <a:latin typeface="Calibri"/>
              </a:defRPr>
            </a:pPr>
            <a:r>
              <a:t>WARN</a:t>
            </a:r>
          </a:p>
        </p:txBody>
      </p:sp>
      <p:sp>
        <p:nvSpPr>
          <p:cNvPr id="21" name="TextBox 20"/>
          <p:cNvSpPr txBox="1"/>
          <p:nvPr/>
        </p:nvSpPr>
        <p:spPr>
          <a:xfrm>
            <a:off x="731520" y="5650992"/>
            <a:ext cx="7589520" cy="365760"/>
          </a:xfrm>
          <a:prstGeom prst="rect">
            <a:avLst/>
          </a:prstGeom>
          <a:noFill/>
        </p:spPr>
        <p:txBody>
          <a:bodyPr wrap="square">
            <a:spAutoFit/>
          </a:bodyPr>
          <a:lstStyle/>
          <a:p>
            <a:pPr algn="l">
              <a:defRPr sz="1200" b="0">
                <a:solidFill>
                  <a:srgbClr val="333333"/>
                </a:solidFill>
                <a:latin typeface="Calibri"/>
              </a:defRPr>
            </a:pPr>
            <a:r>
              <a:t>If the list shows up under "On My iPhone" instead of "iCloud", you need to move the contacts. Delete the local list and recreate it while iCloud is the default account (Settings &gt; Contacts &gt; Default Account &gt; iCloud).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Using the List with Good Trouble Shortcuts</a:t>
            </a:r>
          </a:p>
        </p:txBody>
      </p:sp>
      <p:sp>
        <p:nvSpPr>
          <p:cNvPr id="3" name="Rounded Rectangle 2"/>
          <p:cNvSpPr/>
          <p:nvPr/>
        </p:nvSpPr>
        <p:spPr>
          <a:xfrm>
            <a:off x="548640" y="777240"/>
            <a:ext cx="36576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8046720" cy="548640"/>
          </a:xfrm>
          <a:prstGeom prst="rect">
            <a:avLst/>
          </a:prstGeom>
          <a:noFill/>
        </p:spPr>
        <p:txBody>
          <a:bodyPr wrap="square">
            <a:spAutoFit/>
          </a:bodyPr>
          <a:lstStyle/>
          <a:p>
            <a:pPr algn="l">
              <a:defRPr sz="1500" b="0">
                <a:solidFill>
                  <a:srgbClr val="333333"/>
                </a:solidFill>
                <a:latin typeface="Calibri"/>
              </a:defRPr>
            </a:pPr>
            <a:r>
              <a:t>Your emergency contact list integrates directly with the iOS Shortcut workflow:</a:t>
            </a:r>
          </a:p>
        </p:txBody>
      </p:sp>
      <p:sp>
        <p:nvSpPr>
          <p:cNvPr id="5" name="Rounded Rectangle 4"/>
          <p:cNvSpPr/>
          <p:nvPr/>
        </p:nvSpPr>
        <p:spPr>
          <a:xfrm>
            <a:off x="548640" y="14630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6002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1</a:t>
            </a:r>
          </a:p>
        </p:txBody>
      </p:sp>
      <p:sp>
        <p:nvSpPr>
          <p:cNvPr id="7" name="TextBox 6"/>
          <p:cNvSpPr txBox="1"/>
          <p:nvPr/>
        </p:nvSpPr>
        <p:spPr>
          <a:xfrm>
            <a:off x="1325880" y="1536192"/>
            <a:ext cx="6858000" cy="320040"/>
          </a:xfrm>
          <a:prstGeom prst="rect">
            <a:avLst/>
          </a:prstGeom>
          <a:noFill/>
        </p:spPr>
        <p:txBody>
          <a:bodyPr wrap="square">
            <a:spAutoFit/>
          </a:bodyPr>
          <a:lstStyle/>
          <a:p>
            <a:pPr algn="l">
              <a:defRPr sz="1700" b="1">
                <a:solidFill>
                  <a:srgbClr val="333333"/>
                </a:solidFill>
                <a:latin typeface="Calibri"/>
              </a:defRPr>
            </a:pPr>
            <a:r>
              <a:t>Open the Good Trouble Shortcut in the Shortcuts App</a:t>
            </a:r>
          </a:p>
        </p:txBody>
      </p:sp>
      <p:sp>
        <p:nvSpPr>
          <p:cNvPr id="8" name="TextBox 7"/>
          <p:cNvSpPr txBox="1"/>
          <p:nvPr/>
        </p:nvSpPr>
        <p:spPr>
          <a:xfrm>
            <a:off x="1325880" y="1847088"/>
            <a:ext cx="7040880" cy="594360"/>
          </a:xfrm>
          <a:prstGeom prst="rect">
            <a:avLst/>
          </a:prstGeom>
          <a:noFill/>
        </p:spPr>
        <p:txBody>
          <a:bodyPr wrap="square">
            <a:spAutoFit/>
          </a:bodyPr>
          <a:lstStyle/>
          <a:p>
            <a:pPr algn="l">
              <a:defRPr sz="1300" b="0">
                <a:solidFill>
                  <a:srgbClr val="333333"/>
                </a:solidFill>
                <a:latin typeface="Calibri"/>
              </a:defRPr>
            </a:pPr>
            <a:r>
              <a:t>Find the shortcut you built following the ShortcutTutorial. Tap the "..." to edit it.</a:t>
            </a:r>
          </a:p>
        </p:txBody>
      </p:sp>
      <p:sp>
        <p:nvSpPr>
          <p:cNvPr id="9" name="Rounded Rectangle 8"/>
          <p:cNvSpPr/>
          <p:nvPr/>
        </p:nvSpPr>
        <p:spPr>
          <a:xfrm>
            <a:off x="548640" y="26060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27432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2</a:t>
            </a:r>
          </a:p>
        </p:txBody>
      </p:sp>
      <p:sp>
        <p:nvSpPr>
          <p:cNvPr id="11" name="TextBox 10"/>
          <p:cNvSpPr txBox="1"/>
          <p:nvPr/>
        </p:nvSpPr>
        <p:spPr>
          <a:xfrm>
            <a:off x="1325880" y="2679192"/>
            <a:ext cx="6858000" cy="320040"/>
          </a:xfrm>
          <a:prstGeom prst="rect">
            <a:avLst/>
          </a:prstGeom>
          <a:noFill/>
        </p:spPr>
        <p:txBody>
          <a:bodyPr wrap="square">
            <a:spAutoFit/>
          </a:bodyPr>
          <a:lstStyle/>
          <a:p>
            <a:pPr algn="l">
              <a:defRPr sz="1700" b="1">
                <a:solidFill>
                  <a:srgbClr val="333333"/>
                </a:solidFill>
                <a:latin typeface="Calibri"/>
              </a:defRPr>
            </a:pPr>
            <a:r>
              <a:t>Locate the "Send Message" or "Get Contacts" Action</a:t>
            </a:r>
          </a:p>
        </p:txBody>
      </p:sp>
      <p:sp>
        <p:nvSpPr>
          <p:cNvPr id="12" name="TextBox 11"/>
          <p:cNvSpPr txBox="1"/>
          <p:nvPr/>
        </p:nvSpPr>
        <p:spPr>
          <a:xfrm>
            <a:off x="1325880" y="2990088"/>
            <a:ext cx="7040880" cy="594360"/>
          </a:xfrm>
          <a:prstGeom prst="rect">
            <a:avLst/>
          </a:prstGeom>
          <a:noFill/>
        </p:spPr>
        <p:txBody>
          <a:bodyPr wrap="square">
            <a:spAutoFit/>
          </a:bodyPr>
          <a:lstStyle/>
          <a:p>
            <a:pPr algn="l">
              <a:defRPr sz="1300" b="0">
                <a:solidFill>
                  <a:srgbClr val="333333"/>
                </a:solidFill>
                <a:latin typeface="Calibri"/>
              </a:defRPr>
            </a:pPr>
            <a:r>
              <a:t>In the shortcut, find the action that retrieves contacts to message. It may say "Get Contacts from [list]" or "Send Message to [contacts]".</a:t>
            </a:r>
          </a:p>
        </p:txBody>
      </p:sp>
      <p:sp>
        <p:nvSpPr>
          <p:cNvPr id="13" name="Rounded Rectangle 12"/>
          <p:cNvSpPr/>
          <p:nvPr/>
        </p:nvSpPr>
        <p:spPr>
          <a:xfrm>
            <a:off x="548640" y="3749039"/>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85800" y="3886199"/>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3</a:t>
            </a:r>
          </a:p>
        </p:txBody>
      </p:sp>
      <p:sp>
        <p:nvSpPr>
          <p:cNvPr id="15" name="TextBox 14"/>
          <p:cNvSpPr txBox="1"/>
          <p:nvPr/>
        </p:nvSpPr>
        <p:spPr>
          <a:xfrm>
            <a:off x="1325880" y="3822191"/>
            <a:ext cx="6858000" cy="320040"/>
          </a:xfrm>
          <a:prstGeom prst="rect">
            <a:avLst/>
          </a:prstGeom>
          <a:noFill/>
        </p:spPr>
        <p:txBody>
          <a:bodyPr wrap="square">
            <a:spAutoFit/>
          </a:bodyPr>
          <a:lstStyle/>
          <a:p>
            <a:pPr algn="l">
              <a:defRPr sz="1700" b="1">
                <a:solidFill>
                  <a:srgbClr val="333333"/>
                </a:solidFill>
                <a:latin typeface="Calibri"/>
              </a:defRPr>
            </a:pPr>
            <a:r>
              <a:t>Point It to Your Emergency Contacts List</a:t>
            </a:r>
          </a:p>
        </p:txBody>
      </p:sp>
      <p:sp>
        <p:nvSpPr>
          <p:cNvPr id="16" name="TextBox 15"/>
          <p:cNvSpPr txBox="1"/>
          <p:nvPr/>
        </p:nvSpPr>
        <p:spPr>
          <a:xfrm>
            <a:off x="1325880" y="4133087"/>
            <a:ext cx="7040880" cy="594360"/>
          </a:xfrm>
          <a:prstGeom prst="rect">
            <a:avLst/>
          </a:prstGeom>
          <a:noFill/>
        </p:spPr>
        <p:txBody>
          <a:bodyPr wrap="square">
            <a:spAutoFit/>
          </a:bodyPr>
          <a:lstStyle/>
          <a:p>
            <a:pPr algn="l">
              <a:defRPr sz="1300" b="0">
                <a:solidFill>
                  <a:srgbClr val="333333"/>
                </a:solidFill>
                <a:latin typeface="Calibri"/>
              </a:defRPr>
            </a:pPr>
            <a:r>
              <a:t>Tap the list name in the action and choose your "Emergency Contacts" list. The shortcut will now message everyone on that list when triggered.</a:t>
            </a:r>
          </a:p>
        </p:txBody>
      </p:sp>
      <p:sp>
        <p:nvSpPr>
          <p:cNvPr id="17" name="Rounded Rectangle 16"/>
          <p:cNvSpPr/>
          <p:nvPr/>
        </p:nvSpPr>
        <p:spPr>
          <a:xfrm>
            <a:off x="548640" y="4892040"/>
            <a:ext cx="8046720" cy="100584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5029200"/>
            <a:ext cx="502920" cy="502920"/>
          </a:xfrm>
          <a:prstGeom prst="ellipse">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latin typeface="Calibri"/>
              </a:defRPr>
            </a:pPr>
            <a:r>
              <a:t>4</a:t>
            </a:r>
          </a:p>
        </p:txBody>
      </p:sp>
      <p:sp>
        <p:nvSpPr>
          <p:cNvPr id="19" name="TextBox 18"/>
          <p:cNvSpPr txBox="1"/>
          <p:nvPr/>
        </p:nvSpPr>
        <p:spPr>
          <a:xfrm>
            <a:off x="1325880" y="4965192"/>
            <a:ext cx="6858000" cy="320040"/>
          </a:xfrm>
          <a:prstGeom prst="rect">
            <a:avLst/>
          </a:prstGeom>
          <a:noFill/>
        </p:spPr>
        <p:txBody>
          <a:bodyPr wrap="square">
            <a:spAutoFit/>
          </a:bodyPr>
          <a:lstStyle/>
          <a:p>
            <a:pPr algn="l">
              <a:defRPr sz="1700" b="1">
                <a:solidFill>
                  <a:srgbClr val="333333"/>
                </a:solidFill>
                <a:latin typeface="Calibri"/>
              </a:defRPr>
            </a:pPr>
            <a:r>
              <a:t>Test the Shortcut</a:t>
            </a:r>
          </a:p>
        </p:txBody>
      </p:sp>
      <p:sp>
        <p:nvSpPr>
          <p:cNvPr id="20" name="TextBox 19"/>
          <p:cNvSpPr txBox="1"/>
          <p:nvPr/>
        </p:nvSpPr>
        <p:spPr>
          <a:xfrm>
            <a:off x="1325880" y="5276088"/>
            <a:ext cx="7040880" cy="594360"/>
          </a:xfrm>
          <a:prstGeom prst="rect">
            <a:avLst/>
          </a:prstGeom>
          <a:noFill/>
        </p:spPr>
        <p:txBody>
          <a:bodyPr wrap="square">
            <a:spAutoFit/>
          </a:bodyPr>
          <a:lstStyle/>
          <a:p>
            <a:pPr algn="l">
              <a:defRPr sz="1300" b="0">
                <a:solidFill>
                  <a:srgbClr val="333333"/>
                </a:solidFill>
                <a:latin typeface="Calibri"/>
              </a:defRPr>
            </a:pPr>
            <a:r>
              <a:t>Run the shortcut manually to verify it picks up all the contacts from your list. Confirm that each person receives the alert message with your GPS location.</a:t>
            </a:r>
          </a:p>
        </p:txBody>
      </p:sp>
      <p:sp>
        <p:nvSpPr>
          <p:cNvPr id="21" name="Rounded Rectangle 20"/>
          <p:cNvSpPr/>
          <p:nvPr/>
        </p:nvSpPr>
        <p:spPr>
          <a:xfrm>
            <a:off x="548640" y="5989320"/>
            <a:ext cx="8046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035040"/>
            <a:ext cx="640080" cy="274320"/>
          </a:xfrm>
          <a:prstGeom prst="rect">
            <a:avLst/>
          </a:prstGeom>
          <a:noFill/>
        </p:spPr>
        <p:txBody>
          <a:bodyPr wrap="square">
            <a:spAutoFit/>
          </a:bodyPr>
          <a:lstStyle/>
          <a:p>
            <a:pPr algn="l">
              <a:defRPr sz="1100" b="1">
                <a:solidFill>
                  <a:srgbClr val="856D00"/>
                </a:solidFill>
                <a:latin typeface="Calibri"/>
              </a:defRPr>
            </a:pPr>
            <a:r>
              <a:t>TIP</a:t>
            </a:r>
          </a:p>
        </p:txBody>
      </p:sp>
      <p:sp>
        <p:nvSpPr>
          <p:cNvPr id="23" name="TextBox 22"/>
          <p:cNvSpPr txBox="1"/>
          <p:nvPr/>
        </p:nvSpPr>
        <p:spPr>
          <a:xfrm>
            <a:off x="731520" y="6245352"/>
            <a:ext cx="7589520" cy="365760"/>
          </a:xfrm>
          <a:prstGeom prst="rect">
            <a:avLst/>
          </a:prstGeom>
          <a:noFill/>
        </p:spPr>
        <p:txBody>
          <a:bodyPr wrap="square">
            <a:spAutoFit/>
          </a:bodyPr>
          <a:lstStyle/>
          <a:p>
            <a:pPr algn="l">
              <a:defRPr sz="1200" b="0">
                <a:solidFill>
                  <a:srgbClr val="333333"/>
                </a:solidFill>
                <a:latin typeface="Calibri"/>
              </a:defRPr>
            </a:pPr>
            <a:r>
              <a:t>When you add or remove someone from the Emergency Contacts list, the shortcut automatically picks up the change - no need to edit the shortcut again.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Best Practices</a:t>
            </a:r>
          </a:p>
        </p:txBody>
      </p:sp>
      <p:sp>
        <p:nvSpPr>
          <p:cNvPr id="3" name="Rounded Rectangle 2"/>
          <p:cNvSpPr/>
          <p:nvPr/>
        </p:nvSpPr>
        <p:spPr>
          <a:xfrm>
            <a:off x="548640" y="777240"/>
            <a:ext cx="164592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051560"/>
            <a:ext cx="365760" cy="3657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5" name="TextBox 4"/>
          <p:cNvSpPr txBox="1"/>
          <p:nvPr/>
        </p:nvSpPr>
        <p:spPr>
          <a:xfrm>
            <a:off x="1280160" y="1005840"/>
            <a:ext cx="7132320" cy="274320"/>
          </a:xfrm>
          <a:prstGeom prst="rect">
            <a:avLst/>
          </a:prstGeom>
          <a:noFill/>
        </p:spPr>
        <p:txBody>
          <a:bodyPr wrap="square">
            <a:spAutoFit/>
          </a:bodyPr>
          <a:lstStyle/>
          <a:p>
            <a:pPr algn="l">
              <a:defRPr sz="1600" b="1">
                <a:solidFill>
                  <a:srgbClr val="333333"/>
                </a:solidFill>
                <a:latin typeface="Calibri"/>
              </a:defRPr>
            </a:pPr>
            <a:r>
              <a:t>Keep the List Small and Trusted</a:t>
            </a:r>
          </a:p>
        </p:txBody>
      </p:sp>
      <p:sp>
        <p:nvSpPr>
          <p:cNvPr id="6" name="TextBox 5"/>
          <p:cNvSpPr txBox="1"/>
          <p:nvPr/>
        </p:nvSpPr>
        <p:spPr>
          <a:xfrm>
            <a:off x="1280160" y="1298448"/>
            <a:ext cx="7132320" cy="365760"/>
          </a:xfrm>
          <a:prstGeom prst="rect">
            <a:avLst/>
          </a:prstGeom>
          <a:noFill/>
        </p:spPr>
        <p:txBody>
          <a:bodyPr wrap="square">
            <a:spAutoFit/>
          </a:bodyPr>
          <a:lstStyle/>
          <a:p>
            <a:pPr algn="l">
              <a:defRPr sz="1300" b="0">
                <a:solidFill>
                  <a:srgbClr val="333333"/>
                </a:solidFill>
                <a:latin typeface="Calibri"/>
              </a:defRPr>
            </a:pPr>
            <a:r>
              <a:t>3-5 people is ideal. These should be people who will act on an alert immediately.</a:t>
            </a:r>
          </a:p>
        </p:txBody>
      </p:sp>
      <p:sp>
        <p:nvSpPr>
          <p:cNvPr id="7" name="Oval 6"/>
          <p:cNvSpPr/>
          <p:nvPr/>
        </p:nvSpPr>
        <p:spPr>
          <a:xfrm>
            <a:off x="731520" y="1828800"/>
            <a:ext cx="365760" cy="3657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8" name="TextBox 7"/>
          <p:cNvSpPr txBox="1"/>
          <p:nvPr/>
        </p:nvSpPr>
        <p:spPr>
          <a:xfrm>
            <a:off x="1280160" y="1783080"/>
            <a:ext cx="7132320" cy="274320"/>
          </a:xfrm>
          <a:prstGeom prst="rect">
            <a:avLst/>
          </a:prstGeom>
          <a:noFill/>
        </p:spPr>
        <p:txBody>
          <a:bodyPr wrap="square">
            <a:spAutoFit/>
          </a:bodyPr>
          <a:lstStyle/>
          <a:p>
            <a:pPr algn="l">
              <a:defRPr sz="1600" b="1">
                <a:solidFill>
                  <a:srgbClr val="333333"/>
                </a:solidFill>
                <a:latin typeface="Calibri"/>
              </a:defRPr>
            </a:pPr>
            <a:r>
              <a:t>Include Varied Contact Methods</a:t>
            </a:r>
          </a:p>
        </p:txBody>
      </p:sp>
      <p:sp>
        <p:nvSpPr>
          <p:cNvPr id="9" name="TextBox 8"/>
          <p:cNvSpPr txBox="1"/>
          <p:nvPr/>
        </p:nvSpPr>
        <p:spPr>
          <a:xfrm>
            <a:off x="1280160" y="2075688"/>
            <a:ext cx="7132320" cy="365760"/>
          </a:xfrm>
          <a:prstGeom prst="rect">
            <a:avLst/>
          </a:prstGeom>
          <a:noFill/>
        </p:spPr>
        <p:txBody>
          <a:bodyPr wrap="square">
            <a:spAutoFit/>
          </a:bodyPr>
          <a:lstStyle/>
          <a:p>
            <a:pPr algn="l">
              <a:defRPr sz="1300" b="0">
                <a:solidFill>
                  <a:srgbClr val="333333"/>
                </a:solidFill>
                <a:latin typeface="Calibri"/>
              </a:defRPr>
            </a:pPr>
            <a:r>
              <a:t>Ensure contacts have both phone numbers and email addresses saved in their card.</a:t>
            </a:r>
          </a:p>
        </p:txBody>
      </p:sp>
      <p:sp>
        <p:nvSpPr>
          <p:cNvPr id="10" name="Oval 9"/>
          <p:cNvSpPr/>
          <p:nvPr/>
        </p:nvSpPr>
        <p:spPr>
          <a:xfrm>
            <a:off x="731520" y="2606040"/>
            <a:ext cx="365760" cy="3657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1" name="TextBox 10"/>
          <p:cNvSpPr txBox="1"/>
          <p:nvPr/>
        </p:nvSpPr>
        <p:spPr>
          <a:xfrm>
            <a:off x="1280160" y="2560320"/>
            <a:ext cx="7132320" cy="274320"/>
          </a:xfrm>
          <a:prstGeom prst="rect">
            <a:avLst/>
          </a:prstGeom>
          <a:noFill/>
        </p:spPr>
        <p:txBody>
          <a:bodyPr wrap="square">
            <a:spAutoFit/>
          </a:bodyPr>
          <a:lstStyle/>
          <a:p>
            <a:pPr algn="l">
              <a:defRPr sz="1600" b="1">
                <a:solidFill>
                  <a:srgbClr val="333333"/>
                </a:solidFill>
                <a:latin typeface="Calibri"/>
              </a:defRPr>
            </a:pPr>
            <a:r>
              <a:t>Inform Your Contacts</a:t>
            </a:r>
          </a:p>
        </p:txBody>
      </p:sp>
      <p:sp>
        <p:nvSpPr>
          <p:cNvPr id="12" name="TextBox 11"/>
          <p:cNvSpPr txBox="1"/>
          <p:nvPr/>
        </p:nvSpPr>
        <p:spPr>
          <a:xfrm>
            <a:off x="1280160" y="2852928"/>
            <a:ext cx="7132320" cy="365760"/>
          </a:xfrm>
          <a:prstGeom prst="rect">
            <a:avLst/>
          </a:prstGeom>
          <a:noFill/>
        </p:spPr>
        <p:txBody>
          <a:bodyPr wrap="square">
            <a:spAutoFit/>
          </a:bodyPr>
          <a:lstStyle/>
          <a:p>
            <a:pPr algn="l">
              <a:defRPr sz="1300" b="0">
                <a:solidFill>
                  <a:srgbClr val="333333"/>
                </a:solidFill>
                <a:latin typeface="Calibri"/>
              </a:defRPr>
            </a:pPr>
            <a:r>
              <a:t>Let everyone on the list know they're your emergency contacts and what an alert looks like.</a:t>
            </a:r>
          </a:p>
        </p:txBody>
      </p:sp>
      <p:sp>
        <p:nvSpPr>
          <p:cNvPr id="13" name="Oval 12"/>
          <p:cNvSpPr/>
          <p:nvPr/>
        </p:nvSpPr>
        <p:spPr>
          <a:xfrm>
            <a:off x="731520" y="3383280"/>
            <a:ext cx="365760" cy="3657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4" name="TextBox 13"/>
          <p:cNvSpPr txBox="1"/>
          <p:nvPr/>
        </p:nvSpPr>
        <p:spPr>
          <a:xfrm>
            <a:off x="1280160" y="3337560"/>
            <a:ext cx="7132320" cy="274320"/>
          </a:xfrm>
          <a:prstGeom prst="rect">
            <a:avLst/>
          </a:prstGeom>
          <a:noFill/>
        </p:spPr>
        <p:txBody>
          <a:bodyPr wrap="square">
            <a:spAutoFit/>
          </a:bodyPr>
          <a:lstStyle/>
          <a:p>
            <a:pPr algn="l">
              <a:defRPr sz="1600" b="1">
                <a:solidFill>
                  <a:srgbClr val="333333"/>
                </a:solidFill>
                <a:latin typeface="Calibri"/>
              </a:defRPr>
            </a:pPr>
            <a:r>
              <a:t>Review Regularly</a:t>
            </a:r>
          </a:p>
        </p:txBody>
      </p:sp>
      <p:sp>
        <p:nvSpPr>
          <p:cNvPr id="15" name="TextBox 14"/>
          <p:cNvSpPr txBox="1"/>
          <p:nvPr/>
        </p:nvSpPr>
        <p:spPr>
          <a:xfrm>
            <a:off x="1280160" y="3630168"/>
            <a:ext cx="7132320" cy="365760"/>
          </a:xfrm>
          <a:prstGeom prst="rect">
            <a:avLst/>
          </a:prstGeom>
          <a:noFill/>
        </p:spPr>
        <p:txBody>
          <a:bodyPr wrap="square">
            <a:spAutoFit/>
          </a:bodyPr>
          <a:lstStyle/>
          <a:p>
            <a:pPr algn="l">
              <a:defRPr sz="1300" b="0">
                <a:solidFill>
                  <a:srgbClr val="333333"/>
                </a:solidFill>
                <a:latin typeface="Calibri"/>
              </a:defRPr>
            </a:pPr>
            <a:r>
              <a:t>Check the list every few months. Remove outdated contacts, add new trusted people.</a:t>
            </a:r>
          </a:p>
        </p:txBody>
      </p:sp>
      <p:sp>
        <p:nvSpPr>
          <p:cNvPr id="16" name="Oval 15"/>
          <p:cNvSpPr/>
          <p:nvPr/>
        </p:nvSpPr>
        <p:spPr>
          <a:xfrm>
            <a:off x="731520" y="4160520"/>
            <a:ext cx="365760" cy="3657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7" name="TextBox 16"/>
          <p:cNvSpPr txBox="1"/>
          <p:nvPr/>
        </p:nvSpPr>
        <p:spPr>
          <a:xfrm>
            <a:off x="1280160" y="4114800"/>
            <a:ext cx="7132320" cy="274320"/>
          </a:xfrm>
          <a:prstGeom prst="rect">
            <a:avLst/>
          </a:prstGeom>
          <a:noFill/>
        </p:spPr>
        <p:txBody>
          <a:bodyPr wrap="square">
            <a:spAutoFit/>
          </a:bodyPr>
          <a:lstStyle/>
          <a:p>
            <a:pPr algn="l">
              <a:defRPr sz="1600" b="1">
                <a:solidFill>
                  <a:srgbClr val="333333"/>
                </a:solidFill>
                <a:latin typeface="Calibri"/>
              </a:defRPr>
            </a:pPr>
            <a:r>
              <a:t>Test Periodically</a:t>
            </a:r>
          </a:p>
        </p:txBody>
      </p:sp>
      <p:sp>
        <p:nvSpPr>
          <p:cNvPr id="18" name="TextBox 17"/>
          <p:cNvSpPr txBox="1"/>
          <p:nvPr/>
        </p:nvSpPr>
        <p:spPr>
          <a:xfrm>
            <a:off x="1280160" y="4407408"/>
            <a:ext cx="7132320" cy="365760"/>
          </a:xfrm>
          <a:prstGeom prst="rect">
            <a:avLst/>
          </a:prstGeom>
          <a:noFill/>
        </p:spPr>
        <p:txBody>
          <a:bodyPr wrap="square">
            <a:spAutoFit/>
          </a:bodyPr>
          <a:lstStyle/>
          <a:p>
            <a:pPr algn="l">
              <a:defRPr sz="1300" b="0">
                <a:solidFill>
                  <a:srgbClr val="333333"/>
                </a:solidFill>
                <a:latin typeface="Calibri"/>
              </a:defRPr>
            </a:pPr>
            <a:r>
              <a:t>Run a test alert to make sure messages go through and contacts know how to respond.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74320"/>
            <a:ext cx="8046720" cy="548640"/>
          </a:xfrm>
          <a:prstGeom prst="rect">
            <a:avLst/>
          </a:prstGeom>
          <a:noFill/>
        </p:spPr>
        <p:txBody>
          <a:bodyPr wrap="square">
            <a:spAutoFit/>
          </a:bodyPr>
          <a:lstStyle/>
          <a:p>
            <a:pPr algn="l">
              <a:defRPr sz="2800" b="1">
                <a:solidFill>
                  <a:srgbClr val="333333"/>
                </a:solidFill>
                <a:latin typeface="Calibri"/>
              </a:defRPr>
            </a:pPr>
            <a:r>
              <a:t>Troubleshooting</a:t>
            </a:r>
          </a:p>
        </p:txBody>
      </p:sp>
      <p:sp>
        <p:nvSpPr>
          <p:cNvPr id="3" name="Rounded Rectangle 2"/>
          <p:cNvSpPr/>
          <p:nvPr/>
        </p:nvSpPr>
        <p:spPr>
          <a:xfrm>
            <a:off x="548640" y="777240"/>
            <a:ext cx="2011680" cy="36576"/>
          </a:xfrm>
          <a:prstGeom prst="round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51560"/>
            <a:ext cx="80467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73152" cy="1005840"/>
          </a:xfrm>
          <a:prstGeom prst="round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24712"/>
            <a:ext cx="7589520" cy="320040"/>
          </a:xfrm>
          <a:prstGeom prst="rect">
            <a:avLst/>
          </a:prstGeom>
          <a:noFill/>
        </p:spPr>
        <p:txBody>
          <a:bodyPr wrap="square">
            <a:spAutoFit/>
          </a:bodyPr>
          <a:lstStyle/>
          <a:p>
            <a:pPr algn="l">
              <a:defRPr sz="1500" b="1">
                <a:solidFill>
                  <a:srgbClr val="E03E3E"/>
                </a:solidFill>
                <a:latin typeface="Calibri"/>
              </a:defRPr>
            </a:pPr>
            <a:r>
              <a:t>List doesn't appear on other devices</a:t>
            </a:r>
          </a:p>
        </p:txBody>
      </p:sp>
      <p:sp>
        <p:nvSpPr>
          <p:cNvPr id="7" name="TextBox 6"/>
          <p:cNvSpPr txBox="1"/>
          <p:nvPr/>
        </p:nvSpPr>
        <p:spPr>
          <a:xfrm>
            <a:off x="822960" y="1463040"/>
            <a:ext cx="7589520" cy="548640"/>
          </a:xfrm>
          <a:prstGeom prst="rect">
            <a:avLst/>
          </a:prstGeom>
          <a:noFill/>
        </p:spPr>
        <p:txBody>
          <a:bodyPr wrap="square">
            <a:spAutoFit/>
          </a:bodyPr>
          <a:lstStyle/>
          <a:p>
            <a:pPr algn="l">
              <a:defRPr sz="1200" b="0">
                <a:solidFill>
                  <a:srgbClr val="333333"/>
                </a:solidFill>
                <a:latin typeface="Calibri"/>
              </a:defRPr>
            </a:pPr>
            <a:r>
              <a:t>Verify iCloud Contacts sync is ON on all devices. Check that you're signed in with the same Apple ID. Go to Settings &gt; [Your Name] &gt; iCloud &gt; Show All &gt; Contacts (toggle ON).</a:t>
            </a:r>
          </a:p>
        </p:txBody>
      </p:sp>
      <p:sp>
        <p:nvSpPr>
          <p:cNvPr id="8" name="Rounded Rectangle 7"/>
          <p:cNvSpPr/>
          <p:nvPr/>
        </p:nvSpPr>
        <p:spPr>
          <a:xfrm>
            <a:off x="548640" y="2194560"/>
            <a:ext cx="80467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194560"/>
            <a:ext cx="73152" cy="1005840"/>
          </a:xfrm>
          <a:prstGeom prst="round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67712"/>
            <a:ext cx="7589520" cy="320040"/>
          </a:xfrm>
          <a:prstGeom prst="rect">
            <a:avLst/>
          </a:prstGeom>
          <a:noFill/>
        </p:spPr>
        <p:txBody>
          <a:bodyPr wrap="square">
            <a:spAutoFit/>
          </a:bodyPr>
          <a:lstStyle/>
          <a:p>
            <a:pPr algn="l">
              <a:defRPr sz="1500" b="1">
                <a:solidFill>
                  <a:srgbClr val="E03E3E"/>
                </a:solidFill>
                <a:latin typeface="Calibri"/>
              </a:defRPr>
            </a:pPr>
            <a:r>
              <a:t>List shows under "On My iPhone" instead of iCloud</a:t>
            </a:r>
          </a:p>
        </p:txBody>
      </p:sp>
      <p:sp>
        <p:nvSpPr>
          <p:cNvPr id="11" name="TextBox 10"/>
          <p:cNvSpPr txBox="1"/>
          <p:nvPr/>
        </p:nvSpPr>
        <p:spPr>
          <a:xfrm>
            <a:off x="822960" y="2606040"/>
            <a:ext cx="7589520" cy="548640"/>
          </a:xfrm>
          <a:prstGeom prst="rect">
            <a:avLst/>
          </a:prstGeom>
          <a:noFill/>
        </p:spPr>
        <p:txBody>
          <a:bodyPr wrap="square">
            <a:spAutoFit/>
          </a:bodyPr>
          <a:lstStyle/>
          <a:p>
            <a:pPr algn="l">
              <a:defRPr sz="1200" b="0">
                <a:solidFill>
                  <a:srgbClr val="333333"/>
                </a:solidFill>
                <a:latin typeface="Calibri"/>
              </a:defRPr>
            </a:pPr>
            <a:r>
              <a:t>Set your default account to iCloud: Settings &gt; Contacts &gt; Default Account &gt; iCloud. Then recreate the list so it's stored in iCloud.</a:t>
            </a:r>
          </a:p>
        </p:txBody>
      </p:sp>
      <p:sp>
        <p:nvSpPr>
          <p:cNvPr id="12" name="Rounded Rectangle 11"/>
          <p:cNvSpPr/>
          <p:nvPr/>
        </p:nvSpPr>
        <p:spPr>
          <a:xfrm>
            <a:off x="548640" y="3337560"/>
            <a:ext cx="80467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337560"/>
            <a:ext cx="73152" cy="1005840"/>
          </a:xfrm>
          <a:prstGeom prst="round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410712"/>
            <a:ext cx="7589520" cy="320040"/>
          </a:xfrm>
          <a:prstGeom prst="rect">
            <a:avLst/>
          </a:prstGeom>
          <a:noFill/>
        </p:spPr>
        <p:txBody>
          <a:bodyPr wrap="square">
            <a:spAutoFit/>
          </a:bodyPr>
          <a:lstStyle/>
          <a:p>
            <a:pPr algn="l">
              <a:defRPr sz="1500" b="1">
                <a:solidFill>
                  <a:srgbClr val="E03E3E"/>
                </a:solidFill>
                <a:latin typeface="Calibri"/>
              </a:defRPr>
            </a:pPr>
            <a:r>
              <a:t>Shortcut says "No contacts found"</a:t>
            </a:r>
          </a:p>
        </p:txBody>
      </p:sp>
      <p:sp>
        <p:nvSpPr>
          <p:cNvPr id="15" name="TextBox 14"/>
          <p:cNvSpPr txBox="1"/>
          <p:nvPr/>
        </p:nvSpPr>
        <p:spPr>
          <a:xfrm>
            <a:off x="822960" y="3749040"/>
            <a:ext cx="7589520" cy="548640"/>
          </a:xfrm>
          <a:prstGeom prst="rect">
            <a:avLst/>
          </a:prstGeom>
          <a:noFill/>
        </p:spPr>
        <p:txBody>
          <a:bodyPr wrap="square">
            <a:spAutoFit/>
          </a:bodyPr>
          <a:lstStyle/>
          <a:p>
            <a:pPr algn="l">
              <a:defRPr sz="1200" b="0">
                <a:solidFill>
                  <a:srgbClr val="333333"/>
                </a:solidFill>
                <a:latin typeface="Calibri"/>
              </a:defRPr>
            </a:pPr>
            <a:r>
              <a:t>Make sure the shortcut action references the correct list name (exact spelling). Re-select the list in the shortcut's "Get Contacts" action.</a:t>
            </a:r>
          </a:p>
        </p:txBody>
      </p:sp>
      <p:sp>
        <p:nvSpPr>
          <p:cNvPr id="16" name="Rounded Rectangle 15"/>
          <p:cNvSpPr/>
          <p:nvPr/>
        </p:nvSpPr>
        <p:spPr>
          <a:xfrm>
            <a:off x="548640" y="4480560"/>
            <a:ext cx="80467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4480560"/>
            <a:ext cx="73152" cy="1005840"/>
          </a:xfrm>
          <a:prstGeom prst="roundRect">
            <a:avLst/>
          </a:prstGeom>
          <a:solidFill>
            <a:srgbClr val="E0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53712"/>
            <a:ext cx="7589520" cy="320040"/>
          </a:xfrm>
          <a:prstGeom prst="rect">
            <a:avLst/>
          </a:prstGeom>
          <a:noFill/>
        </p:spPr>
        <p:txBody>
          <a:bodyPr wrap="square">
            <a:spAutoFit/>
          </a:bodyPr>
          <a:lstStyle/>
          <a:p>
            <a:pPr algn="l">
              <a:defRPr sz="1500" b="1">
                <a:solidFill>
                  <a:srgbClr val="E03E3E"/>
                </a:solidFill>
                <a:latin typeface="Calibri"/>
              </a:defRPr>
            </a:pPr>
            <a:r>
              <a:t>Contacts missing from the list</a:t>
            </a:r>
          </a:p>
        </p:txBody>
      </p:sp>
      <p:sp>
        <p:nvSpPr>
          <p:cNvPr id="19" name="TextBox 18"/>
          <p:cNvSpPr txBox="1"/>
          <p:nvPr/>
        </p:nvSpPr>
        <p:spPr>
          <a:xfrm>
            <a:off x="822960" y="4892040"/>
            <a:ext cx="7589520" cy="548640"/>
          </a:xfrm>
          <a:prstGeom prst="rect">
            <a:avLst/>
          </a:prstGeom>
          <a:noFill/>
        </p:spPr>
        <p:txBody>
          <a:bodyPr wrap="square">
            <a:spAutoFit/>
          </a:bodyPr>
          <a:lstStyle/>
          <a:p>
            <a:pPr algn="l">
              <a:defRPr sz="1200" b="0">
                <a:solidFill>
                  <a:srgbClr val="333333"/>
                </a:solidFill>
                <a:latin typeface="Calibri"/>
              </a:defRPr>
            </a:pPr>
            <a:r>
              <a:t>Open the list, tap "Add Contact", and re-add them. Contacts must be explicitly added to the list - they don't appear automatically.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ounded Rectangle 1"/>
          <p:cNvSpPr/>
          <p:nvPr/>
        </p:nvSpPr>
        <p:spPr>
          <a:xfrm>
            <a:off x="0" y="0"/>
            <a:ext cx="9144000" cy="54864"/>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ctr">
              <a:defRPr sz="3400" b="1">
                <a:solidFill>
                  <a:srgbClr val="FFFFFF"/>
                </a:solidFill>
                <a:latin typeface="Calibri"/>
              </a:defRPr>
            </a:pPr>
            <a:r>
              <a:t>You're All Set!</a:t>
            </a:r>
          </a:p>
        </p:txBody>
      </p:sp>
      <p:sp>
        <p:nvSpPr>
          <p:cNvPr id="4" name="Rounded Rectangle 3"/>
          <p:cNvSpPr/>
          <p:nvPr/>
        </p:nvSpPr>
        <p:spPr>
          <a:xfrm>
            <a:off x="3200400" y="1920240"/>
            <a:ext cx="2743200" cy="36576"/>
          </a:xfrm>
          <a:prstGeom prst="round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286000"/>
            <a:ext cx="6400800" cy="365760"/>
          </a:xfrm>
          <a:prstGeom prst="rect">
            <a:avLst/>
          </a:prstGeom>
          <a:noFill/>
        </p:spPr>
        <p:txBody>
          <a:bodyPr wrap="square">
            <a:spAutoFit/>
          </a:bodyPr>
          <a:lstStyle/>
          <a:p>
            <a:pPr algn="ctr">
              <a:defRPr sz="1600" b="0">
                <a:solidFill>
                  <a:srgbClr val="CCCCCC"/>
                </a:solidFill>
                <a:latin typeface="Calibri"/>
              </a:defRPr>
            </a:pPr>
            <a:r>
              <a:t>  Your emergency iCloud contact list is created and syncing</a:t>
            </a:r>
          </a:p>
        </p:txBody>
      </p:sp>
      <p:sp>
        <p:nvSpPr>
          <p:cNvPr id="6" name="TextBox 5"/>
          <p:cNvSpPr txBox="1"/>
          <p:nvPr/>
        </p:nvSpPr>
        <p:spPr>
          <a:xfrm>
            <a:off x="1371600" y="2788920"/>
            <a:ext cx="6400800" cy="365760"/>
          </a:xfrm>
          <a:prstGeom prst="rect">
            <a:avLst/>
          </a:prstGeom>
          <a:noFill/>
        </p:spPr>
        <p:txBody>
          <a:bodyPr wrap="square">
            <a:spAutoFit/>
          </a:bodyPr>
          <a:lstStyle/>
          <a:p>
            <a:pPr algn="ctr">
              <a:defRPr sz="1600" b="0">
                <a:solidFill>
                  <a:srgbClr val="CCCCCC"/>
                </a:solidFill>
                <a:latin typeface="Calibri"/>
              </a:defRPr>
            </a:pPr>
            <a:r>
              <a:t>  Your Good Trouble Shortcut is connected to the list</a:t>
            </a:r>
          </a:p>
        </p:txBody>
      </p:sp>
      <p:sp>
        <p:nvSpPr>
          <p:cNvPr id="7" name="TextBox 6"/>
          <p:cNvSpPr txBox="1"/>
          <p:nvPr/>
        </p:nvSpPr>
        <p:spPr>
          <a:xfrm>
            <a:off x="1371600" y="3291840"/>
            <a:ext cx="6400800" cy="365760"/>
          </a:xfrm>
          <a:prstGeom prst="rect">
            <a:avLst/>
          </a:prstGeom>
          <a:noFill/>
        </p:spPr>
        <p:txBody>
          <a:bodyPr wrap="square">
            <a:spAutoFit/>
          </a:bodyPr>
          <a:lstStyle/>
          <a:p>
            <a:pPr algn="ctr">
              <a:defRPr sz="1600" b="0">
                <a:solidFill>
                  <a:srgbClr val="CCCCCC"/>
                </a:solidFill>
                <a:latin typeface="Calibri"/>
              </a:defRPr>
            </a:pPr>
            <a:r>
              <a:t>  Adding or removing contacts updates the alert automatically</a:t>
            </a:r>
          </a:p>
        </p:txBody>
      </p:sp>
      <p:sp>
        <p:nvSpPr>
          <p:cNvPr id="8" name="TextBox 7"/>
          <p:cNvSpPr txBox="1"/>
          <p:nvPr/>
        </p:nvSpPr>
        <p:spPr>
          <a:xfrm>
            <a:off x="1371600" y="3794760"/>
            <a:ext cx="6400800" cy="365760"/>
          </a:xfrm>
          <a:prstGeom prst="rect">
            <a:avLst/>
          </a:prstGeom>
          <a:noFill/>
        </p:spPr>
        <p:txBody>
          <a:bodyPr wrap="square">
            <a:spAutoFit/>
          </a:bodyPr>
          <a:lstStyle/>
          <a:p>
            <a:pPr algn="ctr">
              <a:defRPr sz="1600" b="0">
                <a:solidFill>
                  <a:srgbClr val="CCCCCC"/>
                </a:solidFill>
                <a:latin typeface="Calibri"/>
              </a:defRPr>
            </a:pPr>
            <a:r>
              <a:t>  Test your setup periodically to make sure it works</a:t>
            </a:r>
          </a:p>
        </p:txBody>
      </p:sp>
      <p:sp>
        <p:nvSpPr>
          <p:cNvPr id="9" name="TextBox 8"/>
          <p:cNvSpPr txBox="1"/>
          <p:nvPr/>
        </p:nvSpPr>
        <p:spPr>
          <a:xfrm>
            <a:off x="731520" y="4572000"/>
            <a:ext cx="7680960" cy="731520"/>
          </a:xfrm>
          <a:prstGeom prst="rect">
            <a:avLst/>
          </a:prstGeom>
          <a:noFill/>
        </p:spPr>
        <p:txBody>
          <a:bodyPr wrap="square">
            <a:spAutoFit/>
          </a:bodyPr>
          <a:lstStyle/>
          <a:p>
            <a:pPr algn="ctr">
              <a:defRPr sz="1400" b="0">
                <a:solidFill>
                  <a:srgbClr val="999999"/>
                </a:solidFill>
                <a:latin typeface="Calibri"/>
              </a:defRPr>
            </a:pPr>
            <a:r>
              <a:t>For full setup instructions, see the ShortcutTutorial</a:t>
            </a:r>
            <a:br/>
            <a:r>
              <a:t>and WorkflowTutorial guides in the doc/ios/ folder.</a:t>
            </a:r>
          </a:p>
        </p:txBody>
      </p:sp>
      <p:sp>
        <p:nvSpPr>
          <p:cNvPr id="10" name="TextBox 9"/>
          <p:cNvSpPr txBox="1"/>
          <p:nvPr/>
        </p:nvSpPr>
        <p:spPr>
          <a:xfrm>
            <a:off x="731520" y="5669280"/>
            <a:ext cx="7680960" cy="457200"/>
          </a:xfrm>
          <a:prstGeom prst="rect">
            <a:avLst/>
          </a:prstGeom>
          <a:noFill/>
        </p:spPr>
        <p:txBody>
          <a:bodyPr wrap="square">
            <a:spAutoFit/>
          </a:bodyPr>
          <a:lstStyle/>
          <a:p>
            <a:pPr algn="ctr">
              <a:defRPr sz="1600" b="1">
                <a:solidFill>
                  <a:srgbClr val="007AFF"/>
                </a:solidFill>
                <a:latin typeface="Calibri"/>
              </a:defRPr>
            </a:pPr>
            <a:r>
              <a:t>Good Trouble Safety Automation Toolkit</a:t>
            </a:r>
          </a:p>
        </p:txBody>
      </p:sp>
      <p:sp>
        <p:nvSpPr>
          <p:cNvPr id="11" name="TextBox 10"/>
          <p:cNvSpPr txBox="1"/>
          <p:nvPr/>
        </p:nvSpPr>
        <p:spPr>
          <a:xfrm>
            <a:off x="731520" y="6126480"/>
            <a:ext cx="7680960" cy="365760"/>
          </a:xfrm>
          <a:prstGeom prst="rect">
            <a:avLst/>
          </a:prstGeom>
          <a:noFill/>
        </p:spPr>
        <p:txBody>
          <a:bodyPr wrap="square">
            <a:spAutoFit/>
          </a:bodyPr>
          <a:lstStyle/>
          <a:p>
            <a:pPr algn="ctr">
              <a:defRPr sz="1300" b="0">
                <a:solidFill>
                  <a:srgbClr val="999999"/>
                </a:solidFill>
                <a:latin typeface="Calibri"/>
              </a:defRPr>
            </a:pPr>
            <a:r>
              <a:t>Stay safe. Stay informed. Know your rights.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